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24.png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7220" cy="5143500"/>
          </a:xfrm>
          <a:prstGeom prst="rect">
            <a:avLst/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" y="0"/>
            <a:ext cx="617220" cy="5143500"/>
          </a:xfrm>
          <a:prstGeom prst="rect">
            <a:avLst/>
          </a:prstGeom>
          <a:solidFill>
            <a:srgbClr val="DCEEFF">
              <a:alpha val="9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0"/>
            <a:ext cx="617220" cy="5143500"/>
          </a:xfrm>
          <a:prstGeom prst="rect">
            <a:avLst/>
          </a:prstGeom>
          <a:solidFill>
            <a:srgbClr val="DCEEFF">
              <a:alpha val="8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14500" y="0"/>
            <a:ext cx="617220" cy="5143500"/>
          </a:xfrm>
          <a:prstGeom prst="rect">
            <a:avLst/>
          </a:prstGeom>
          <a:solidFill>
            <a:srgbClr val="DCEEFF">
              <a:alpha val="8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617220" cy="5143500"/>
          </a:xfrm>
          <a:prstGeom prst="rect">
            <a:avLst/>
          </a:prstGeom>
          <a:solidFill>
            <a:srgbClr val="DCEEFF">
              <a:alpha val="7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7500" y="0"/>
            <a:ext cx="617220" cy="5143500"/>
          </a:xfrm>
          <a:prstGeom prst="rect">
            <a:avLst/>
          </a:prstGeom>
          <a:solidFill>
            <a:srgbClr val="DCEEFF">
              <a:alpha val="6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617220" cy="5143500"/>
          </a:xfrm>
          <a:prstGeom prst="rect">
            <a:avLst/>
          </a:prstGeom>
          <a:solidFill>
            <a:srgbClr val="DCEEFF">
              <a:alpha val="6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00500" y="0"/>
            <a:ext cx="617220" cy="5143500"/>
          </a:xfrm>
          <a:prstGeom prst="rect">
            <a:avLst/>
          </a:prstGeom>
          <a:solidFill>
            <a:srgbClr val="DCEEFF">
              <a:alpha val="5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0"/>
            <a:ext cx="617220" cy="5143500"/>
          </a:xfrm>
          <a:prstGeom prst="rect">
            <a:avLst/>
          </a:prstGeom>
          <a:solidFill>
            <a:srgbClr val="DCEEFF">
              <a:alpha val="4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43500" y="0"/>
            <a:ext cx="617220" cy="5143500"/>
          </a:xfrm>
          <a:prstGeom prst="rect">
            <a:avLst/>
          </a:prstGeom>
          <a:solidFill>
            <a:srgbClr val="DCEEFF">
              <a:alpha val="4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0"/>
            <a:ext cx="617220" cy="5143500"/>
          </a:xfrm>
          <a:prstGeom prst="rect">
            <a:avLst/>
          </a:prstGeom>
          <a:solidFill>
            <a:srgbClr val="DCEEFF">
              <a:alpha val="3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0"/>
            <a:ext cx="617220" cy="5143500"/>
          </a:xfrm>
          <a:prstGeom prst="rect">
            <a:avLst/>
          </a:prstGeom>
          <a:solidFill>
            <a:srgbClr val="DCEEFF">
              <a:alpha val="2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0"/>
            <a:ext cx="617220" cy="5143500"/>
          </a:xfrm>
          <a:prstGeom prst="rect">
            <a:avLst/>
          </a:prstGeom>
          <a:solidFill>
            <a:srgbClr val="DCEEFF">
              <a:alpha val="2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9500" y="0"/>
            <a:ext cx="617220" cy="5143500"/>
          </a:xfrm>
          <a:prstGeom prst="rect">
            <a:avLst/>
          </a:prstGeom>
          <a:solidFill>
            <a:srgbClr val="DCEEFF">
              <a:alpha val="1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617220" cy="5143500"/>
          </a:xfrm>
          <a:prstGeom prst="rect">
            <a:avLst/>
          </a:prstGeom>
          <a:solidFill>
            <a:srgbClr val="DCEEFF">
              <a:alpha val="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72500" y="0"/>
            <a:ext cx="617220" cy="5143500"/>
          </a:xfrm>
          <a:prstGeom prst="rect">
            <a:avLst/>
          </a:prstGeom>
          <a:solidFill>
            <a:srgbClr val="DCEEFF">
              <a:alpha val="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-457200"/>
            <a:ext cx="4114800" cy="4114800"/>
          </a:xfrm>
          <a:prstGeom prst="rect">
            <a:avLst/>
          </a:prstGeom>
          <a:solidFill>
            <a:srgbClr val="DCEEFF">
              <a:alpha val="60000"/>
            </a:srgbClr>
          </a:solidFill>
          <a:ln w="12700">
            <a:solidFill>
              <a:srgbClr val="DCEEFF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3200400"/>
            <a:ext cx="2286000" cy="2286000"/>
          </a:xfrm>
          <a:prstGeom prst="rect">
            <a:avLst/>
          </a:prstGeom>
          <a:solidFill>
            <a:srgbClr val="EEF6FF">
              <a:alpha val="70000"/>
            </a:srgbClr>
          </a:solidFill>
          <a:ln w="12700">
            <a:solidFill>
              <a:srgbClr val="EEF6FF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1005840"/>
            <a:ext cx="73152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</a:t>
            </a:r>
            <a:r>
              <a:rPr lang="en-US" sz="78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</a:t>
            </a:r>
            <a:endParaRPr lang="en-US" sz="7800" dirty="0"/>
          </a:p>
        </p:txBody>
      </p:sp>
      <p:sp>
        <p:nvSpPr>
          <p:cNvPr id="22" name="Text 20"/>
          <p:cNvSpPr/>
          <p:nvPr/>
        </p:nvSpPr>
        <p:spPr>
          <a:xfrm>
            <a:off x="502920" y="2103120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E-Store Full Stack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2920" y="265176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Plateforme moderne de vente de produits électroniques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3200400"/>
            <a:ext cx="3840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331012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Étudiant : </a:t>
            </a:r>
            <a:r>
              <a:rPr lang="fr-FR" alt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Zaitouni nourelislam </a:t>
            </a:r>
            <a:r>
              <a:rPr lang="en-US" altLang="fr-FR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Abdelaziz Taoudi Ebourki</a:t>
            </a:r>
            <a:endParaRPr lang="en-US" altLang="fr-FR" sz="1200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31520" y="363016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Filière :  </a:t>
            </a:r>
            <a:r>
              <a:rPr lang="fr-FR" alt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MIP</a:t>
            </a:r>
            <a:endParaRPr lang="fr-FR" altLang="en-US" sz="1200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31520" y="395020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Encadrant :  </a:t>
            </a: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</a:t>
            </a:r>
            <a:r>
              <a:rPr lang="fr-FR" alt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 Omar Zahou</a:t>
            </a:r>
            <a:endParaRPr lang="fr-FR" altLang="en-US" sz="1200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1520" y="427024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Année :  </a:t>
            </a: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</a:t>
            </a:r>
            <a:r>
              <a:rPr lang="fr-FR" alt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– 202</a:t>
            </a:r>
            <a:r>
              <a:rPr lang="fr-FR" alt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fr-FR" altLang="en-US" sz="1200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4630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7220" cy="5143500"/>
          </a:xfrm>
          <a:prstGeom prst="rect">
            <a:avLst/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" y="0"/>
            <a:ext cx="617220" cy="5143500"/>
          </a:xfrm>
          <a:prstGeom prst="rect">
            <a:avLst/>
          </a:prstGeom>
          <a:solidFill>
            <a:srgbClr val="DCEEFF">
              <a:alpha val="9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0"/>
            <a:ext cx="617220" cy="5143500"/>
          </a:xfrm>
          <a:prstGeom prst="rect">
            <a:avLst/>
          </a:prstGeom>
          <a:solidFill>
            <a:srgbClr val="DCEEFF">
              <a:alpha val="8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14500" y="0"/>
            <a:ext cx="617220" cy="5143500"/>
          </a:xfrm>
          <a:prstGeom prst="rect">
            <a:avLst/>
          </a:prstGeom>
          <a:solidFill>
            <a:srgbClr val="DCEEFF">
              <a:alpha val="8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617220" cy="5143500"/>
          </a:xfrm>
          <a:prstGeom prst="rect">
            <a:avLst/>
          </a:prstGeom>
          <a:solidFill>
            <a:srgbClr val="DCEEFF">
              <a:alpha val="7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7500" y="0"/>
            <a:ext cx="617220" cy="5143500"/>
          </a:xfrm>
          <a:prstGeom prst="rect">
            <a:avLst/>
          </a:prstGeom>
          <a:solidFill>
            <a:srgbClr val="DCEEFF">
              <a:alpha val="6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617220" cy="5143500"/>
          </a:xfrm>
          <a:prstGeom prst="rect">
            <a:avLst/>
          </a:prstGeom>
          <a:solidFill>
            <a:srgbClr val="DCEEFF">
              <a:alpha val="6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00500" y="0"/>
            <a:ext cx="617220" cy="5143500"/>
          </a:xfrm>
          <a:prstGeom prst="rect">
            <a:avLst/>
          </a:prstGeom>
          <a:solidFill>
            <a:srgbClr val="DCEEFF">
              <a:alpha val="5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0"/>
            <a:ext cx="617220" cy="5143500"/>
          </a:xfrm>
          <a:prstGeom prst="rect">
            <a:avLst/>
          </a:prstGeom>
          <a:solidFill>
            <a:srgbClr val="DCEEFF">
              <a:alpha val="4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43500" y="0"/>
            <a:ext cx="617220" cy="5143500"/>
          </a:xfrm>
          <a:prstGeom prst="rect">
            <a:avLst/>
          </a:prstGeom>
          <a:solidFill>
            <a:srgbClr val="DCEEFF">
              <a:alpha val="4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0"/>
            <a:ext cx="617220" cy="5143500"/>
          </a:xfrm>
          <a:prstGeom prst="rect">
            <a:avLst/>
          </a:prstGeom>
          <a:solidFill>
            <a:srgbClr val="DCEEFF">
              <a:alpha val="3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0"/>
            <a:ext cx="617220" cy="5143500"/>
          </a:xfrm>
          <a:prstGeom prst="rect">
            <a:avLst/>
          </a:prstGeom>
          <a:solidFill>
            <a:srgbClr val="DCEEFF">
              <a:alpha val="2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0"/>
            <a:ext cx="617220" cy="5143500"/>
          </a:xfrm>
          <a:prstGeom prst="rect">
            <a:avLst/>
          </a:prstGeom>
          <a:solidFill>
            <a:srgbClr val="DCEEFF">
              <a:alpha val="2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9500" y="0"/>
            <a:ext cx="617220" cy="5143500"/>
          </a:xfrm>
          <a:prstGeom prst="rect">
            <a:avLst/>
          </a:prstGeom>
          <a:solidFill>
            <a:srgbClr val="DCEEFF">
              <a:alpha val="1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617220" cy="5143500"/>
          </a:xfrm>
          <a:prstGeom prst="rect">
            <a:avLst/>
          </a:prstGeom>
          <a:solidFill>
            <a:srgbClr val="DCEEFF">
              <a:alpha val="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72500" y="0"/>
            <a:ext cx="617220" cy="5143500"/>
          </a:xfrm>
          <a:prstGeom prst="rect">
            <a:avLst/>
          </a:prstGeom>
          <a:solidFill>
            <a:srgbClr val="DCEEFF">
              <a:alpha val="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Contexte</a:t>
            </a:r>
            <a:r>
              <a:rPr lang="en-US" sz="3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du Projet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457200" y="932688"/>
            <a:ext cx="1005840" cy="3657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14300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371600" y="1371600"/>
            <a:ext cx="777240" cy="777240"/>
          </a:xfrm>
          <a:prstGeom prst="rect">
            <a:avLst/>
          </a:prstGeom>
          <a:solidFill>
            <a:srgbClr val="2F80ED">
              <a:alpha val="18000"/>
            </a:srgbClr>
          </a:solidFill>
          <a:ln w="12700">
            <a:solidFill>
              <a:srgbClr val="2F80ED">
                <a:alpha val="18000"/>
              </a:srgbClr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463040"/>
            <a:ext cx="594360" cy="5943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48640" y="22860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Croissance E-commerce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76072" y="2788920"/>
            <a:ext cx="2322576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 commerce en ligne connaît une expansion mondiale rapide, portée par la digitalisation des habitudes d'achat.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291840" y="114300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251960" y="1371600"/>
            <a:ext cx="777240" cy="777240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18000"/>
              </a:srgbClr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463040"/>
            <a:ext cx="594360" cy="5943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429000" y="22860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Besoin d'Innovation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3456432" y="2788920"/>
            <a:ext cx="2322576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Les consommateurs exigent des interfaces modernes, rapides et intuitives pour leur expérience d'achat.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6172200" y="114300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7132320" y="1371600"/>
            <a:ext cx="777240" cy="777240"/>
          </a:xfrm>
          <a:prstGeom prst="rect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18000"/>
              </a:srgbClr>
            </a:solidFill>
            <a:prstDash val="solid"/>
          </a:ln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463040"/>
            <a:ext cx="594360" cy="59436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309360" y="22860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Produits Électroniques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6336792" y="2788920"/>
            <a:ext cx="2322576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 marché en plein essor nécessitant une plateforme e-commerce dédiée et performante.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7220" cy="5143500"/>
          </a:xfrm>
          <a:prstGeom prst="rect">
            <a:avLst/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" y="0"/>
            <a:ext cx="617220" cy="5143500"/>
          </a:xfrm>
          <a:prstGeom prst="rect">
            <a:avLst/>
          </a:prstGeom>
          <a:solidFill>
            <a:srgbClr val="DCEEFF">
              <a:alpha val="9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0"/>
            <a:ext cx="617220" cy="5143500"/>
          </a:xfrm>
          <a:prstGeom prst="rect">
            <a:avLst/>
          </a:prstGeom>
          <a:solidFill>
            <a:srgbClr val="DCEEFF">
              <a:alpha val="8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14500" y="0"/>
            <a:ext cx="617220" cy="5143500"/>
          </a:xfrm>
          <a:prstGeom prst="rect">
            <a:avLst/>
          </a:prstGeom>
          <a:solidFill>
            <a:srgbClr val="DCEEFF">
              <a:alpha val="8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617220" cy="5143500"/>
          </a:xfrm>
          <a:prstGeom prst="rect">
            <a:avLst/>
          </a:prstGeom>
          <a:solidFill>
            <a:srgbClr val="DCEEFF">
              <a:alpha val="7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7500" y="0"/>
            <a:ext cx="617220" cy="5143500"/>
          </a:xfrm>
          <a:prstGeom prst="rect">
            <a:avLst/>
          </a:prstGeom>
          <a:solidFill>
            <a:srgbClr val="DCEEFF">
              <a:alpha val="6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617220" cy="5143500"/>
          </a:xfrm>
          <a:prstGeom prst="rect">
            <a:avLst/>
          </a:prstGeom>
          <a:solidFill>
            <a:srgbClr val="DCEEFF">
              <a:alpha val="6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00500" y="0"/>
            <a:ext cx="617220" cy="5143500"/>
          </a:xfrm>
          <a:prstGeom prst="rect">
            <a:avLst/>
          </a:prstGeom>
          <a:solidFill>
            <a:srgbClr val="DCEEFF">
              <a:alpha val="5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0"/>
            <a:ext cx="617220" cy="5143500"/>
          </a:xfrm>
          <a:prstGeom prst="rect">
            <a:avLst/>
          </a:prstGeom>
          <a:solidFill>
            <a:srgbClr val="DCEEFF">
              <a:alpha val="4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43500" y="0"/>
            <a:ext cx="617220" cy="5143500"/>
          </a:xfrm>
          <a:prstGeom prst="rect">
            <a:avLst/>
          </a:prstGeom>
          <a:solidFill>
            <a:srgbClr val="DCEEFF">
              <a:alpha val="4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0"/>
            <a:ext cx="617220" cy="5143500"/>
          </a:xfrm>
          <a:prstGeom prst="rect">
            <a:avLst/>
          </a:prstGeom>
          <a:solidFill>
            <a:srgbClr val="DCEEFF">
              <a:alpha val="3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0"/>
            <a:ext cx="617220" cy="5143500"/>
          </a:xfrm>
          <a:prstGeom prst="rect">
            <a:avLst/>
          </a:prstGeom>
          <a:solidFill>
            <a:srgbClr val="DCEEFF">
              <a:alpha val="2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0"/>
            <a:ext cx="617220" cy="5143500"/>
          </a:xfrm>
          <a:prstGeom prst="rect">
            <a:avLst/>
          </a:prstGeom>
          <a:solidFill>
            <a:srgbClr val="DCEEFF">
              <a:alpha val="2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9500" y="0"/>
            <a:ext cx="617220" cy="5143500"/>
          </a:xfrm>
          <a:prstGeom prst="rect">
            <a:avLst/>
          </a:prstGeom>
          <a:solidFill>
            <a:srgbClr val="DCEEFF">
              <a:alpha val="1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617220" cy="5143500"/>
          </a:xfrm>
          <a:prstGeom prst="rect">
            <a:avLst/>
          </a:prstGeom>
          <a:solidFill>
            <a:srgbClr val="DCEEFF">
              <a:alpha val="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72500" y="0"/>
            <a:ext cx="617220" cy="5143500"/>
          </a:xfrm>
          <a:prstGeom prst="rect">
            <a:avLst/>
          </a:prstGeom>
          <a:solidFill>
            <a:srgbClr val="DCEEFF">
              <a:alpha val="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Objectifs</a:t>
            </a:r>
            <a:r>
              <a:rPr lang="en-US" sz="3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du Projet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457200" y="932688"/>
            <a:ext cx="1005840" cy="3657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1078992"/>
            <a:ext cx="2514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1335024"/>
            <a:ext cx="594360" cy="594360"/>
          </a:xfrm>
          <a:prstGeom prst="rect">
            <a:avLst/>
          </a:prstGeom>
          <a:solidFill>
            <a:srgbClr val="2F80ED">
              <a:alpha val="16000"/>
            </a:srgbClr>
          </a:solidFill>
          <a:ln w="12700">
            <a:solidFill>
              <a:srgbClr val="2F80ED">
                <a:alpha val="16000"/>
              </a:srgbClr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80744"/>
            <a:ext cx="475488" cy="47548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216152" y="1307592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Interface Moderne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216152" y="1700784"/>
            <a:ext cx="1508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épuré, inspiré des meilleures pratiques UI/UX modernes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218688" y="1078992"/>
            <a:ext cx="2514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401568" y="1335024"/>
            <a:ext cx="594360" cy="594360"/>
          </a:xfrm>
          <a:prstGeom prst="rect">
            <a:avLst/>
          </a:prstGeom>
          <a:solidFill>
            <a:srgbClr val="10B981">
              <a:alpha val="16000"/>
            </a:srgbClr>
          </a:solidFill>
          <a:ln w="12700">
            <a:solidFill>
              <a:srgbClr val="10B981">
                <a:alpha val="16000"/>
              </a:srgbClr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1380744"/>
            <a:ext cx="475488" cy="47548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114800" y="1307592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Navigation Fluide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4114800" y="1700784"/>
            <a:ext cx="1508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Routing SPA optimisé avec TanStack Router et lazy loading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6108192" y="1078992"/>
            <a:ext cx="2514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291072" y="1335024"/>
            <a:ext cx="594360" cy="594360"/>
          </a:xfrm>
          <a:prstGeom prst="rect">
            <a:avLst/>
          </a:prstGeom>
          <a:solidFill>
            <a:srgbClr val="8B5CF6">
              <a:alpha val="16000"/>
            </a:srgbClr>
          </a:solidFill>
          <a:ln w="12700">
            <a:solidFill>
              <a:srgbClr val="8B5CF6">
                <a:alpha val="16000"/>
              </a:srgbClr>
            </a:solidFill>
            <a:prstDash val="solid"/>
          </a:ln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380744"/>
            <a:ext cx="475488" cy="47548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7004304" y="1307592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Gestion Panier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7004304" y="1700784"/>
            <a:ext cx="1508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Panier dynamique avec mise à jour en temps réel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320040" y="3090672"/>
            <a:ext cx="2514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502920" y="3346704"/>
            <a:ext cx="594360" cy="594360"/>
          </a:xfrm>
          <a:prstGeom prst="rect">
            <a:avLst/>
          </a:prstGeom>
          <a:solidFill>
            <a:srgbClr val="F59E0B">
              <a:alpha val="16000"/>
            </a:srgbClr>
          </a:solidFill>
          <a:ln w="12700">
            <a:solidFill>
              <a:srgbClr val="F59E0B">
                <a:alpha val="16000"/>
              </a:srgbClr>
            </a:solidFill>
            <a:prstDash val="solid"/>
          </a:ln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92424"/>
            <a:ext cx="475488" cy="47548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1216152" y="3319272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 Scalable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1216152" y="3712464"/>
            <a:ext cx="1508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 modulaire Frontend + Backend découplé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3218688" y="3090672"/>
            <a:ext cx="2514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3401568" y="3346704"/>
            <a:ext cx="594360" cy="594360"/>
          </a:xfrm>
          <a:prstGeom prst="rect">
            <a:avLst/>
          </a:prstGeom>
          <a:solidFill>
            <a:srgbClr val="EC4899">
              <a:alpha val="16000"/>
            </a:srgbClr>
          </a:solidFill>
          <a:ln w="12700">
            <a:solidFill>
              <a:srgbClr val="EC4899">
                <a:alpha val="16000"/>
              </a:srgbClr>
            </a:solidFill>
            <a:prstDash val="solid"/>
          </a:ln>
        </p:spPr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3392424"/>
            <a:ext cx="475488" cy="475488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4114800" y="3319272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Responsive Design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4114800" y="3712464"/>
            <a:ext cx="1508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Expérience optimale sur Desktop, Tablet et Mobile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7220" cy="5143500"/>
          </a:xfrm>
          <a:prstGeom prst="rect">
            <a:avLst/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" y="0"/>
            <a:ext cx="617220" cy="5143500"/>
          </a:xfrm>
          <a:prstGeom prst="rect">
            <a:avLst/>
          </a:prstGeom>
          <a:solidFill>
            <a:srgbClr val="DCEEFF">
              <a:alpha val="9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0"/>
            <a:ext cx="617220" cy="5143500"/>
          </a:xfrm>
          <a:prstGeom prst="rect">
            <a:avLst/>
          </a:prstGeom>
          <a:solidFill>
            <a:srgbClr val="DCEEFF">
              <a:alpha val="8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14500" y="0"/>
            <a:ext cx="617220" cy="5143500"/>
          </a:xfrm>
          <a:prstGeom prst="rect">
            <a:avLst/>
          </a:prstGeom>
          <a:solidFill>
            <a:srgbClr val="DCEEFF">
              <a:alpha val="8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617220" cy="5143500"/>
          </a:xfrm>
          <a:prstGeom prst="rect">
            <a:avLst/>
          </a:prstGeom>
          <a:solidFill>
            <a:srgbClr val="DCEEFF">
              <a:alpha val="7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7500" y="0"/>
            <a:ext cx="617220" cy="5143500"/>
          </a:xfrm>
          <a:prstGeom prst="rect">
            <a:avLst/>
          </a:prstGeom>
          <a:solidFill>
            <a:srgbClr val="DCEEFF">
              <a:alpha val="6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617220" cy="5143500"/>
          </a:xfrm>
          <a:prstGeom prst="rect">
            <a:avLst/>
          </a:prstGeom>
          <a:solidFill>
            <a:srgbClr val="DCEEFF">
              <a:alpha val="6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00500" y="0"/>
            <a:ext cx="617220" cy="5143500"/>
          </a:xfrm>
          <a:prstGeom prst="rect">
            <a:avLst/>
          </a:prstGeom>
          <a:solidFill>
            <a:srgbClr val="DCEEFF">
              <a:alpha val="5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0"/>
            <a:ext cx="617220" cy="5143500"/>
          </a:xfrm>
          <a:prstGeom prst="rect">
            <a:avLst/>
          </a:prstGeom>
          <a:solidFill>
            <a:srgbClr val="DCEEFF">
              <a:alpha val="4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43500" y="0"/>
            <a:ext cx="617220" cy="5143500"/>
          </a:xfrm>
          <a:prstGeom prst="rect">
            <a:avLst/>
          </a:prstGeom>
          <a:solidFill>
            <a:srgbClr val="DCEEFF">
              <a:alpha val="4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0"/>
            <a:ext cx="617220" cy="5143500"/>
          </a:xfrm>
          <a:prstGeom prst="rect">
            <a:avLst/>
          </a:prstGeom>
          <a:solidFill>
            <a:srgbClr val="DCEEFF">
              <a:alpha val="3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0"/>
            <a:ext cx="617220" cy="5143500"/>
          </a:xfrm>
          <a:prstGeom prst="rect">
            <a:avLst/>
          </a:prstGeom>
          <a:solidFill>
            <a:srgbClr val="DCEEFF">
              <a:alpha val="2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0"/>
            <a:ext cx="617220" cy="5143500"/>
          </a:xfrm>
          <a:prstGeom prst="rect">
            <a:avLst/>
          </a:prstGeom>
          <a:solidFill>
            <a:srgbClr val="DCEEFF">
              <a:alpha val="2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9500" y="0"/>
            <a:ext cx="617220" cy="5143500"/>
          </a:xfrm>
          <a:prstGeom prst="rect">
            <a:avLst/>
          </a:prstGeom>
          <a:solidFill>
            <a:srgbClr val="DCEEFF">
              <a:alpha val="1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617220" cy="5143500"/>
          </a:xfrm>
          <a:prstGeom prst="rect">
            <a:avLst/>
          </a:prstGeom>
          <a:solidFill>
            <a:srgbClr val="DCEEFF">
              <a:alpha val="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72500" y="0"/>
            <a:ext cx="617220" cy="5143500"/>
          </a:xfrm>
          <a:prstGeom prst="rect">
            <a:avLst/>
          </a:prstGeom>
          <a:solidFill>
            <a:srgbClr val="DCEEFF">
              <a:alpha val="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Fonctionnalités</a:t>
            </a:r>
            <a:r>
              <a:rPr lang="en-US" sz="3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Principales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457200" y="932688"/>
            <a:ext cx="1005840" cy="3657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1078992"/>
            <a:ext cx="2651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" y="1399032"/>
            <a:ext cx="621792" cy="621792"/>
          </a:xfrm>
          <a:prstGeom prst="rect">
            <a:avLst/>
          </a:prstGeom>
          <a:solidFill>
            <a:srgbClr val="2F80ED">
              <a:alpha val="16000"/>
            </a:srgbClr>
          </a:solidFill>
          <a:ln w="12700">
            <a:solidFill>
              <a:srgbClr val="2F80ED">
                <a:alpha val="16000"/>
              </a:srgbClr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444752"/>
            <a:ext cx="502920" cy="5029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261872" y="1335024"/>
            <a:ext cx="16276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Authentification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261872" y="1700784"/>
            <a:ext cx="162763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 / Register sécurisé + JWT sessions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246120" y="1078992"/>
            <a:ext cx="2651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392424" y="1399032"/>
            <a:ext cx="621792" cy="621792"/>
          </a:xfrm>
          <a:prstGeom prst="rect">
            <a:avLst/>
          </a:prstGeom>
          <a:solidFill>
            <a:srgbClr val="10B981">
              <a:alpha val="16000"/>
            </a:srgbClr>
          </a:solidFill>
          <a:ln w="12700">
            <a:solidFill>
              <a:srgbClr val="10B981">
                <a:alpha val="16000"/>
              </a:srgbClr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144" y="1444752"/>
            <a:ext cx="502920" cy="50292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160520" y="1335024"/>
            <a:ext cx="16276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Catalogue Produits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4160520" y="1700784"/>
            <a:ext cx="162763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Affichage dynamique avec filtres &amp; catégories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144768" y="1078992"/>
            <a:ext cx="2651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291072" y="1399032"/>
            <a:ext cx="621792" cy="621792"/>
          </a:xfrm>
          <a:prstGeom prst="rect">
            <a:avLst/>
          </a:prstGeom>
          <a:solidFill>
            <a:srgbClr val="8B5CF6">
              <a:alpha val="16000"/>
            </a:srgbClr>
          </a:solidFill>
          <a:ln w="12700">
            <a:solidFill>
              <a:srgbClr val="8B5CF6">
                <a:alpha val="16000"/>
              </a:srgbClr>
            </a:solidFill>
            <a:prstDash val="solid"/>
          </a:ln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444752"/>
            <a:ext cx="502920" cy="50292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7059168" y="1335024"/>
            <a:ext cx="16276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Recherche Avancée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7059168" y="1700784"/>
            <a:ext cx="162763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Recherche instantanée par nom, catégorie, prix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347472" y="2834640"/>
            <a:ext cx="2651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493776" y="3154680"/>
            <a:ext cx="621792" cy="621792"/>
          </a:xfrm>
          <a:prstGeom prst="rect">
            <a:avLst/>
          </a:prstGeom>
          <a:solidFill>
            <a:srgbClr val="F59E0B">
              <a:alpha val="16000"/>
            </a:srgbClr>
          </a:solidFill>
          <a:ln w="12700">
            <a:solidFill>
              <a:srgbClr val="F59E0B">
                <a:alpha val="16000"/>
              </a:srgbClr>
            </a:solidFill>
            <a:prstDash val="solid"/>
          </a:ln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3200400"/>
            <a:ext cx="502920" cy="50292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1261872" y="3090672"/>
            <a:ext cx="16276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Panier Dynamique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1261872" y="3456432"/>
            <a:ext cx="162763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Ajout, suppression et modification quantités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3246120" y="2834640"/>
            <a:ext cx="2651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3392424" y="3154680"/>
            <a:ext cx="621792" cy="621792"/>
          </a:xfrm>
          <a:prstGeom prst="rect">
            <a:avLst/>
          </a:prstGeom>
          <a:solidFill>
            <a:srgbClr val="EC4899">
              <a:alpha val="16000"/>
            </a:srgbClr>
          </a:solidFill>
          <a:ln w="12700">
            <a:solidFill>
              <a:srgbClr val="EC4899">
                <a:alpha val="16000"/>
              </a:srgbClr>
            </a:solidFill>
            <a:prstDash val="solid"/>
          </a:ln>
        </p:spPr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144" y="3200400"/>
            <a:ext cx="502920" cy="50292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4160520" y="3090672"/>
            <a:ext cx="16276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Checkout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4160520" y="3456432"/>
            <a:ext cx="162763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Processus de commande complet et sécurisé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6144768" y="2834640"/>
            <a:ext cx="2651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6291072" y="3154680"/>
            <a:ext cx="621792" cy="621792"/>
          </a:xfrm>
          <a:prstGeom prst="rect">
            <a:avLst/>
          </a:prstGeom>
          <a:solidFill>
            <a:srgbClr val="14B8A6">
              <a:alpha val="16000"/>
            </a:srgbClr>
          </a:solidFill>
          <a:ln w="12700">
            <a:solidFill>
              <a:srgbClr val="14B8A6">
                <a:alpha val="16000"/>
              </a:srgbClr>
            </a:solidFill>
            <a:prstDash val="solid"/>
          </a:ln>
        </p:spPr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3200400"/>
            <a:ext cx="502920" cy="50292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7059168" y="3090672"/>
            <a:ext cx="16276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Responsive</a:t>
            </a:r>
            <a:endParaRPr lang="en-US" sz="1200" dirty="0"/>
          </a:p>
        </p:txBody>
      </p:sp>
      <p:sp>
        <p:nvSpPr>
          <p:cNvPr id="49" name="Text 41"/>
          <p:cNvSpPr/>
          <p:nvPr/>
        </p:nvSpPr>
        <p:spPr>
          <a:xfrm>
            <a:off x="7059168" y="3456432"/>
            <a:ext cx="162763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Expérience optimale sur tous les appareils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7220" cy="5143500"/>
          </a:xfrm>
          <a:prstGeom prst="rect">
            <a:avLst/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" y="0"/>
            <a:ext cx="617220" cy="5143500"/>
          </a:xfrm>
          <a:prstGeom prst="rect">
            <a:avLst/>
          </a:prstGeom>
          <a:solidFill>
            <a:srgbClr val="DCEEFF">
              <a:alpha val="9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0"/>
            <a:ext cx="617220" cy="5143500"/>
          </a:xfrm>
          <a:prstGeom prst="rect">
            <a:avLst/>
          </a:prstGeom>
          <a:solidFill>
            <a:srgbClr val="DCEEFF">
              <a:alpha val="8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14500" y="0"/>
            <a:ext cx="617220" cy="5143500"/>
          </a:xfrm>
          <a:prstGeom prst="rect">
            <a:avLst/>
          </a:prstGeom>
          <a:solidFill>
            <a:srgbClr val="DCEEFF">
              <a:alpha val="8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617220" cy="5143500"/>
          </a:xfrm>
          <a:prstGeom prst="rect">
            <a:avLst/>
          </a:prstGeom>
          <a:solidFill>
            <a:srgbClr val="DCEEFF">
              <a:alpha val="7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7500" y="0"/>
            <a:ext cx="617220" cy="5143500"/>
          </a:xfrm>
          <a:prstGeom prst="rect">
            <a:avLst/>
          </a:prstGeom>
          <a:solidFill>
            <a:srgbClr val="DCEEFF">
              <a:alpha val="6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617220" cy="5143500"/>
          </a:xfrm>
          <a:prstGeom prst="rect">
            <a:avLst/>
          </a:prstGeom>
          <a:solidFill>
            <a:srgbClr val="DCEEFF">
              <a:alpha val="6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00500" y="0"/>
            <a:ext cx="617220" cy="5143500"/>
          </a:xfrm>
          <a:prstGeom prst="rect">
            <a:avLst/>
          </a:prstGeom>
          <a:solidFill>
            <a:srgbClr val="DCEEFF">
              <a:alpha val="5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0"/>
            <a:ext cx="617220" cy="5143500"/>
          </a:xfrm>
          <a:prstGeom prst="rect">
            <a:avLst/>
          </a:prstGeom>
          <a:solidFill>
            <a:srgbClr val="DCEEFF">
              <a:alpha val="4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43500" y="0"/>
            <a:ext cx="617220" cy="5143500"/>
          </a:xfrm>
          <a:prstGeom prst="rect">
            <a:avLst/>
          </a:prstGeom>
          <a:solidFill>
            <a:srgbClr val="DCEEFF">
              <a:alpha val="4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0"/>
            <a:ext cx="617220" cy="5143500"/>
          </a:xfrm>
          <a:prstGeom prst="rect">
            <a:avLst/>
          </a:prstGeom>
          <a:solidFill>
            <a:srgbClr val="DCEEFF">
              <a:alpha val="3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0"/>
            <a:ext cx="617220" cy="5143500"/>
          </a:xfrm>
          <a:prstGeom prst="rect">
            <a:avLst/>
          </a:prstGeom>
          <a:solidFill>
            <a:srgbClr val="DCEEFF">
              <a:alpha val="2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0"/>
            <a:ext cx="617220" cy="5143500"/>
          </a:xfrm>
          <a:prstGeom prst="rect">
            <a:avLst/>
          </a:prstGeom>
          <a:solidFill>
            <a:srgbClr val="DCEEFF">
              <a:alpha val="2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9500" y="0"/>
            <a:ext cx="617220" cy="5143500"/>
          </a:xfrm>
          <a:prstGeom prst="rect">
            <a:avLst/>
          </a:prstGeom>
          <a:solidFill>
            <a:srgbClr val="DCEEFF">
              <a:alpha val="1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617220" cy="5143500"/>
          </a:xfrm>
          <a:prstGeom prst="rect">
            <a:avLst/>
          </a:prstGeom>
          <a:solidFill>
            <a:srgbClr val="DCEEFF">
              <a:alpha val="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72500" y="0"/>
            <a:ext cx="617220" cy="5143500"/>
          </a:xfrm>
          <a:prstGeom prst="rect">
            <a:avLst/>
          </a:prstGeom>
          <a:solidFill>
            <a:srgbClr val="DCEEFF">
              <a:alpha val="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Technologies</a:t>
            </a:r>
            <a:r>
              <a:rPr lang="en-US" sz="3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Utilisées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457200" y="932688"/>
            <a:ext cx="1005840" cy="3657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1078992"/>
            <a:ext cx="39776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0352" y="1170432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Frontend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6928" y="1719072"/>
            <a:ext cx="384048" cy="384048"/>
          </a:xfrm>
          <a:prstGeom prst="rect">
            <a:avLst/>
          </a:prstGeom>
          <a:solidFill>
            <a:srgbClr val="61DAFB">
              <a:alpha val="22000"/>
            </a:srgbClr>
          </a:solidFill>
          <a:ln w="12700">
            <a:solidFill>
              <a:srgbClr val="61DAFB">
                <a:alpha val="22000"/>
              </a:srgbClr>
            </a:solidFill>
            <a:prstDash val="solid"/>
          </a:ln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46504"/>
            <a:ext cx="320040" cy="32004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078992" y="171907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18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66928" y="2249424"/>
            <a:ext cx="384048" cy="384048"/>
          </a:xfrm>
          <a:prstGeom prst="rect">
            <a:avLst/>
          </a:prstGeom>
          <a:solidFill>
            <a:srgbClr val="3178C6">
              <a:alpha val="22000"/>
            </a:srgbClr>
          </a:solidFill>
          <a:ln w="12700">
            <a:solidFill>
              <a:srgbClr val="3178C6">
                <a:alpha val="22000"/>
              </a:srgbClr>
            </a:solidFill>
            <a:prstDash val="solid"/>
          </a:ln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76856"/>
            <a:ext cx="320040" cy="32004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078992" y="2249424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566928" y="2779776"/>
            <a:ext cx="384048" cy="384048"/>
          </a:xfrm>
          <a:prstGeom prst="rect">
            <a:avLst/>
          </a:prstGeom>
          <a:solidFill>
            <a:srgbClr val="06B6D4">
              <a:alpha val="22000"/>
            </a:srgbClr>
          </a:solidFill>
          <a:ln w="12700">
            <a:solidFill>
              <a:srgbClr val="06B6D4">
                <a:alpha val="22000"/>
              </a:srgbClr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807208"/>
            <a:ext cx="320040" cy="32004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078992" y="2779776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566928" y="3310128"/>
            <a:ext cx="384048" cy="384048"/>
          </a:xfrm>
          <a:prstGeom prst="rect">
            <a:avLst/>
          </a:prstGeom>
          <a:solidFill>
            <a:srgbClr val="FF4154">
              <a:alpha val="22000"/>
            </a:srgbClr>
          </a:solidFill>
          <a:ln w="12700">
            <a:solidFill>
              <a:srgbClr val="FF4154">
                <a:alpha val="22000"/>
              </a:srgbClr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337560"/>
            <a:ext cx="320040" cy="32004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78992" y="331012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TanStack Router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566928" y="3840480"/>
            <a:ext cx="384048" cy="384048"/>
          </a:xfrm>
          <a:prstGeom prst="rect">
            <a:avLst/>
          </a:prstGeom>
          <a:solidFill>
            <a:srgbClr val="6366F1">
              <a:alpha val="22000"/>
            </a:srgbClr>
          </a:solidFill>
          <a:ln w="12700">
            <a:solidFill>
              <a:srgbClr val="6366F1">
                <a:alpha val="22000"/>
              </a:srgbClr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867912"/>
            <a:ext cx="320040" cy="32004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078992" y="38404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Shadcn UI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4590288" y="1078992"/>
            <a:ext cx="39776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Text 31"/>
          <p:cNvSpPr/>
          <p:nvPr/>
        </p:nvSpPr>
        <p:spPr>
          <a:xfrm>
            <a:off x="4773168" y="1170432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🔧 Backend</a:t>
            </a:r>
            <a:endParaRPr lang="en-US" sz="1600" dirty="0"/>
          </a:p>
        </p:txBody>
      </p:sp>
      <p:sp>
        <p:nvSpPr>
          <p:cNvPr id="39" name="Shape 32"/>
          <p:cNvSpPr/>
          <p:nvPr/>
        </p:nvSpPr>
        <p:spPr>
          <a:xfrm>
            <a:off x="4773168" y="1719072"/>
            <a:ext cx="384048" cy="384048"/>
          </a:xfrm>
          <a:prstGeom prst="rect">
            <a:avLst/>
          </a:prstGeom>
          <a:solidFill>
            <a:srgbClr val="F89820">
              <a:alpha val="22000"/>
            </a:srgbClr>
          </a:solidFill>
          <a:ln w="12700">
            <a:solidFill>
              <a:srgbClr val="F89820">
                <a:alpha val="22000"/>
              </a:srgbClr>
            </a:solidFill>
            <a:prstDash val="solid"/>
          </a:ln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1746504"/>
            <a:ext cx="320040" cy="32004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285232" y="171907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Boot</a:t>
            </a:r>
            <a:endParaRPr lang="en-US" sz="1300" dirty="0"/>
          </a:p>
        </p:txBody>
      </p:sp>
      <p:sp>
        <p:nvSpPr>
          <p:cNvPr id="42" name="Shape 34"/>
          <p:cNvSpPr/>
          <p:nvPr/>
        </p:nvSpPr>
        <p:spPr>
          <a:xfrm>
            <a:off x="4773168" y="2249424"/>
            <a:ext cx="384048" cy="384048"/>
          </a:xfrm>
          <a:prstGeom prst="rect">
            <a:avLst/>
          </a:prstGeom>
          <a:solidFill>
            <a:srgbClr val="2F80ED">
              <a:alpha val="22000"/>
            </a:srgbClr>
          </a:solidFill>
          <a:ln w="12700">
            <a:solidFill>
              <a:srgbClr val="2F80ED">
                <a:alpha val="22000"/>
              </a:srgbClr>
            </a:solidFill>
            <a:prstDash val="solid"/>
          </a:ln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2276856"/>
            <a:ext cx="320040" cy="32004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5285232" y="2249424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API</a:t>
            </a:r>
            <a:endParaRPr lang="en-US" sz="1300" dirty="0"/>
          </a:p>
        </p:txBody>
      </p:sp>
      <p:sp>
        <p:nvSpPr>
          <p:cNvPr id="45" name="Shape 36"/>
          <p:cNvSpPr/>
          <p:nvPr/>
        </p:nvSpPr>
        <p:spPr>
          <a:xfrm>
            <a:off x="4773168" y="2779776"/>
            <a:ext cx="384048" cy="384048"/>
          </a:xfrm>
          <a:prstGeom prst="rect">
            <a:avLst/>
          </a:prstGeom>
          <a:solidFill>
            <a:srgbClr val="4479A1">
              <a:alpha val="22000"/>
            </a:srgbClr>
          </a:solidFill>
          <a:ln w="12700">
            <a:solidFill>
              <a:srgbClr val="4479A1">
                <a:alpha val="22000"/>
              </a:srgbClr>
            </a:solidFill>
            <a:prstDash val="solid"/>
          </a:ln>
        </p:spPr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2807208"/>
            <a:ext cx="320040" cy="32004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5285232" y="2779776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</a:t>
            </a:r>
            <a:endParaRPr lang="en-US" sz="1300" dirty="0"/>
          </a:p>
        </p:txBody>
      </p:sp>
      <p:sp>
        <p:nvSpPr>
          <p:cNvPr id="48" name="Shape 38"/>
          <p:cNvSpPr/>
          <p:nvPr/>
        </p:nvSpPr>
        <p:spPr>
          <a:xfrm>
            <a:off x="4773168" y="3310128"/>
            <a:ext cx="384048" cy="384048"/>
          </a:xfrm>
          <a:prstGeom prst="rect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>
                <a:alpha val="22000"/>
              </a:srgbClr>
            </a:solidFill>
            <a:prstDash val="solid"/>
          </a:ln>
        </p:spPr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600" y="3337560"/>
            <a:ext cx="320040" cy="320040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5285232" y="331012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Security</a:t>
            </a:r>
            <a:endParaRPr lang="en-US" sz="1300" dirty="0"/>
          </a:p>
        </p:txBody>
      </p:sp>
      <p:sp>
        <p:nvSpPr>
          <p:cNvPr id="51" name="Shape 40"/>
          <p:cNvSpPr/>
          <p:nvPr/>
        </p:nvSpPr>
        <p:spPr>
          <a:xfrm>
            <a:off x="4773168" y="3840480"/>
            <a:ext cx="384048" cy="384048"/>
          </a:xfrm>
          <a:prstGeom prst="rect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22000"/>
              </a:srgbClr>
            </a:solidFill>
            <a:prstDash val="solid"/>
          </a:ln>
        </p:spPr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0600" y="3867912"/>
            <a:ext cx="320040" cy="320040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5285232" y="38404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Data JPA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7220" cy="5143500"/>
          </a:xfrm>
          <a:prstGeom prst="rect">
            <a:avLst/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" y="0"/>
            <a:ext cx="617220" cy="5143500"/>
          </a:xfrm>
          <a:prstGeom prst="rect">
            <a:avLst/>
          </a:prstGeom>
          <a:solidFill>
            <a:srgbClr val="DCEEFF">
              <a:alpha val="9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0"/>
            <a:ext cx="617220" cy="5143500"/>
          </a:xfrm>
          <a:prstGeom prst="rect">
            <a:avLst/>
          </a:prstGeom>
          <a:solidFill>
            <a:srgbClr val="DCEEFF">
              <a:alpha val="8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14500" y="0"/>
            <a:ext cx="617220" cy="5143500"/>
          </a:xfrm>
          <a:prstGeom prst="rect">
            <a:avLst/>
          </a:prstGeom>
          <a:solidFill>
            <a:srgbClr val="DCEEFF">
              <a:alpha val="8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617220" cy="5143500"/>
          </a:xfrm>
          <a:prstGeom prst="rect">
            <a:avLst/>
          </a:prstGeom>
          <a:solidFill>
            <a:srgbClr val="DCEEFF">
              <a:alpha val="7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7500" y="0"/>
            <a:ext cx="617220" cy="5143500"/>
          </a:xfrm>
          <a:prstGeom prst="rect">
            <a:avLst/>
          </a:prstGeom>
          <a:solidFill>
            <a:srgbClr val="DCEEFF">
              <a:alpha val="6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617220" cy="5143500"/>
          </a:xfrm>
          <a:prstGeom prst="rect">
            <a:avLst/>
          </a:prstGeom>
          <a:solidFill>
            <a:srgbClr val="DCEEFF">
              <a:alpha val="6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00500" y="0"/>
            <a:ext cx="617220" cy="5143500"/>
          </a:xfrm>
          <a:prstGeom prst="rect">
            <a:avLst/>
          </a:prstGeom>
          <a:solidFill>
            <a:srgbClr val="DCEEFF">
              <a:alpha val="5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0"/>
            <a:ext cx="617220" cy="5143500"/>
          </a:xfrm>
          <a:prstGeom prst="rect">
            <a:avLst/>
          </a:prstGeom>
          <a:solidFill>
            <a:srgbClr val="DCEEFF">
              <a:alpha val="4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43500" y="0"/>
            <a:ext cx="617220" cy="5143500"/>
          </a:xfrm>
          <a:prstGeom prst="rect">
            <a:avLst/>
          </a:prstGeom>
          <a:solidFill>
            <a:srgbClr val="DCEEFF">
              <a:alpha val="4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0"/>
            <a:ext cx="617220" cy="5143500"/>
          </a:xfrm>
          <a:prstGeom prst="rect">
            <a:avLst/>
          </a:prstGeom>
          <a:solidFill>
            <a:srgbClr val="DCEEFF">
              <a:alpha val="3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0"/>
            <a:ext cx="617220" cy="5143500"/>
          </a:xfrm>
          <a:prstGeom prst="rect">
            <a:avLst/>
          </a:prstGeom>
          <a:solidFill>
            <a:srgbClr val="DCEEFF">
              <a:alpha val="2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0"/>
            <a:ext cx="617220" cy="5143500"/>
          </a:xfrm>
          <a:prstGeom prst="rect">
            <a:avLst/>
          </a:prstGeom>
          <a:solidFill>
            <a:srgbClr val="DCEEFF">
              <a:alpha val="2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9500" y="0"/>
            <a:ext cx="617220" cy="5143500"/>
          </a:xfrm>
          <a:prstGeom prst="rect">
            <a:avLst/>
          </a:prstGeom>
          <a:solidFill>
            <a:srgbClr val="DCEEFF">
              <a:alpha val="1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617220" cy="5143500"/>
          </a:xfrm>
          <a:prstGeom prst="rect">
            <a:avLst/>
          </a:prstGeom>
          <a:solidFill>
            <a:srgbClr val="DCEEFF">
              <a:alpha val="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72500" y="0"/>
            <a:ext cx="617220" cy="5143500"/>
          </a:xfrm>
          <a:prstGeom prst="rect">
            <a:avLst/>
          </a:prstGeom>
          <a:solidFill>
            <a:srgbClr val="DCEEFF">
              <a:alpha val="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 </a:t>
            </a:r>
            <a:r>
              <a:rPr lang="en-US" sz="30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Stack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457200" y="932688"/>
            <a:ext cx="1005840" cy="3657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00200" y="1024128"/>
            <a:ext cx="59436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600200" y="1024128"/>
            <a:ext cx="164592" cy="75895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1188720"/>
            <a:ext cx="411480" cy="4114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2450592" y="1115568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Frontend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2450592" y="144475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TypeScript · Tailwind CSS · TanStack Router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480560" y="1783080"/>
            <a:ext cx="201168" cy="201168"/>
          </a:xfrm>
          <a:prstGeom prst="rect">
            <a:avLst/>
          </a:prstGeom>
          <a:solidFill>
            <a:srgbClr val="2F80ED">
              <a:alpha val="45000"/>
            </a:srgbClr>
          </a:solidFill>
          <a:ln w="12700">
            <a:solidFill>
              <a:srgbClr val="2F80ED">
                <a:alpha val="45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600200" y="1984248"/>
            <a:ext cx="59436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600200" y="1984248"/>
            <a:ext cx="164592" cy="7589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148840"/>
            <a:ext cx="411480" cy="41148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2450592" y="2075688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API Layer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2450592" y="240487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 · JSON · JWT Authentication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480560" y="2743200"/>
            <a:ext cx="201168" cy="201168"/>
          </a:xfrm>
          <a:prstGeom prst="rect">
            <a:avLst/>
          </a:prstGeom>
          <a:solidFill>
            <a:srgbClr val="10B981">
              <a:alpha val="45000"/>
            </a:srgbClr>
          </a:solidFill>
          <a:ln w="1270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600200" y="2944368"/>
            <a:ext cx="59436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1600200" y="2944368"/>
            <a:ext cx="164592" cy="7589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3108960"/>
            <a:ext cx="411480" cy="4114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2450592" y="3035808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Boot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2450592" y="336499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Controllers · Services · Repositories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4480560" y="3703320"/>
            <a:ext cx="201168" cy="201168"/>
          </a:xfrm>
          <a:prstGeom prst="rect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1600200" y="3904488"/>
            <a:ext cx="59436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1600200" y="3904488"/>
            <a:ext cx="164592" cy="7589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4069080"/>
            <a:ext cx="411480" cy="41148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2450592" y="3995928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Database</a:t>
            </a:r>
            <a:endParaRPr lang="en-US" sz="1400" dirty="0"/>
          </a:p>
        </p:txBody>
      </p:sp>
      <p:sp>
        <p:nvSpPr>
          <p:cNvPr id="42" name="Text 36"/>
          <p:cNvSpPr/>
          <p:nvPr/>
        </p:nvSpPr>
        <p:spPr>
          <a:xfrm>
            <a:off x="2450592" y="432511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Entities · Relations · Migrations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7220" cy="5143500"/>
          </a:xfrm>
          <a:prstGeom prst="rect">
            <a:avLst/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" y="0"/>
            <a:ext cx="617220" cy="5143500"/>
          </a:xfrm>
          <a:prstGeom prst="rect">
            <a:avLst/>
          </a:prstGeom>
          <a:solidFill>
            <a:srgbClr val="DCEEFF">
              <a:alpha val="9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0"/>
            <a:ext cx="617220" cy="5143500"/>
          </a:xfrm>
          <a:prstGeom prst="rect">
            <a:avLst/>
          </a:prstGeom>
          <a:solidFill>
            <a:srgbClr val="DCEEFF">
              <a:alpha val="8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14500" y="0"/>
            <a:ext cx="617220" cy="5143500"/>
          </a:xfrm>
          <a:prstGeom prst="rect">
            <a:avLst/>
          </a:prstGeom>
          <a:solidFill>
            <a:srgbClr val="DCEEFF">
              <a:alpha val="8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617220" cy="5143500"/>
          </a:xfrm>
          <a:prstGeom prst="rect">
            <a:avLst/>
          </a:prstGeom>
          <a:solidFill>
            <a:srgbClr val="DCEEFF">
              <a:alpha val="7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7500" y="0"/>
            <a:ext cx="617220" cy="5143500"/>
          </a:xfrm>
          <a:prstGeom prst="rect">
            <a:avLst/>
          </a:prstGeom>
          <a:solidFill>
            <a:srgbClr val="DCEEFF">
              <a:alpha val="6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617220" cy="5143500"/>
          </a:xfrm>
          <a:prstGeom prst="rect">
            <a:avLst/>
          </a:prstGeom>
          <a:solidFill>
            <a:srgbClr val="DCEEFF">
              <a:alpha val="6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00500" y="0"/>
            <a:ext cx="617220" cy="5143500"/>
          </a:xfrm>
          <a:prstGeom prst="rect">
            <a:avLst/>
          </a:prstGeom>
          <a:solidFill>
            <a:srgbClr val="DCEEFF">
              <a:alpha val="5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0"/>
            <a:ext cx="617220" cy="5143500"/>
          </a:xfrm>
          <a:prstGeom prst="rect">
            <a:avLst/>
          </a:prstGeom>
          <a:solidFill>
            <a:srgbClr val="DCEEFF">
              <a:alpha val="4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43500" y="0"/>
            <a:ext cx="617220" cy="5143500"/>
          </a:xfrm>
          <a:prstGeom prst="rect">
            <a:avLst/>
          </a:prstGeom>
          <a:solidFill>
            <a:srgbClr val="DCEEFF">
              <a:alpha val="4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0"/>
            <a:ext cx="617220" cy="5143500"/>
          </a:xfrm>
          <a:prstGeom prst="rect">
            <a:avLst/>
          </a:prstGeom>
          <a:solidFill>
            <a:srgbClr val="DCEEFF">
              <a:alpha val="3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0"/>
            <a:ext cx="617220" cy="5143500"/>
          </a:xfrm>
          <a:prstGeom prst="rect">
            <a:avLst/>
          </a:prstGeom>
          <a:solidFill>
            <a:srgbClr val="DCEEFF">
              <a:alpha val="2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0"/>
            <a:ext cx="617220" cy="5143500"/>
          </a:xfrm>
          <a:prstGeom prst="rect">
            <a:avLst/>
          </a:prstGeom>
          <a:solidFill>
            <a:srgbClr val="DCEEFF">
              <a:alpha val="2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9500" y="0"/>
            <a:ext cx="617220" cy="5143500"/>
          </a:xfrm>
          <a:prstGeom prst="rect">
            <a:avLst/>
          </a:prstGeom>
          <a:solidFill>
            <a:srgbClr val="DCEEFF">
              <a:alpha val="1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617220" cy="5143500"/>
          </a:xfrm>
          <a:prstGeom prst="rect">
            <a:avLst/>
          </a:prstGeom>
          <a:solidFill>
            <a:srgbClr val="DCEEFF">
              <a:alpha val="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72500" y="0"/>
            <a:ext cx="617220" cy="5143500"/>
          </a:xfrm>
          <a:prstGeom prst="rect">
            <a:avLst/>
          </a:prstGeom>
          <a:solidFill>
            <a:srgbClr val="DCEEFF">
              <a:alpha val="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 </a:t>
            </a:r>
            <a:r>
              <a:rPr lang="en-US" sz="30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457200" y="932688"/>
            <a:ext cx="1005840" cy="3657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1078992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6928" y="1170432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src/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1600200"/>
            <a:ext cx="54864" cy="34747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160934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components/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31720" y="160934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 réutilisables — Navbar, ProductCard, Footer…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" y="2093976"/>
            <a:ext cx="54864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21031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routes/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31720" y="21031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Pages et routage SPA TanStack Router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2587752"/>
            <a:ext cx="54864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259689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context/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331720" y="259689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 global — CartContext, AuthContext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" y="3081528"/>
            <a:ext cx="54864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" y="309067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hooks/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331720" y="309067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 Hooks React réutilisables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" y="3575304"/>
            <a:ext cx="54864" cy="3474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358444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lib/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331720" y="358444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Utilitaires, helpers et configurations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080" y="4069080"/>
            <a:ext cx="54864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4672" y="407822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assets/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331720" y="407822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Images, icônes et ressources statiques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73168" y="1078992"/>
            <a:ext cx="3977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956048" y="1170432"/>
            <a:ext cx="3566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Principes Clés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956048" y="1627632"/>
            <a:ext cx="182880" cy="18288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30368" y="1609344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Composants atomiques réutilisables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956048" y="2130552"/>
            <a:ext cx="182880" cy="18288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30368" y="2112264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Séparation logique / présentation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956048" y="2633472"/>
            <a:ext cx="182880" cy="18288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30368" y="2615184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 management centralisé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956048" y="3136392"/>
            <a:ext cx="182880" cy="18288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30368" y="3118104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Routes typées avec TypeScript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956048" y="3639312"/>
            <a:ext cx="182880" cy="18288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30368" y="3621024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Lazy loading des pages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956048" y="4142232"/>
            <a:ext cx="182880" cy="18288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30368" y="4123944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splitting automatique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7220" cy="5143500"/>
          </a:xfrm>
          <a:prstGeom prst="rect">
            <a:avLst/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" y="0"/>
            <a:ext cx="617220" cy="5143500"/>
          </a:xfrm>
          <a:prstGeom prst="rect">
            <a:avLst/>
          </a:prstGeom>
          <a:solidFill>
            <a:srgbClr val="DCEEFF">
              <a:alpha val="9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0"/>
            <a:ext cx="617220" cy="5143500"/>
          </a:xfrm>
          <a:prstGeom prst="rect">
            <a:avLst/>
          </a:prstGeom>
          <a:solidFill>
            <a:srgbClr val="DCEEFF">
              <a:alpha val="8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14500" y="0"/>
            <a:ext cx="617220" cy="5143500"/>
          </a:xfrm>
          <a:prstGeom prst="rect">
            <a:avLst/>
          </a:prstGeom>
          <a:solidFill>
            <a:srgbClr val="DCEEFF">
              <a:alpha val="8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617220" cy="5143500"/>
          </a:xfrm>
          <a:prstGeom prst="rect">
            <a:avLst/>
          </a:prstGeom>
          <a:solidFill>
            <a:srgbClr val="DCEEFF">
              <a:alpha val="7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7500" y="0"/>
            <a:ext cx="617220" cy="5143500"/>
          </a:xfrm>
          <a:prstGeom prst="rect">
            <a:avLst/>
          </a:prstGeom>
          <a:solidFill>
            <a:srgbClr val="DCEEFF">
              <a:alpha val="6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617220" cy="5143500"/>
          </a:xfrm>
          <a:prstGeom prst="rect">
            <a:avLst/>
          </a:prstGeom>
          <a:solidFill>
            <a:srgbClr val="DCEEFF">
              <a:alpha val="6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00500" y="0"/>
            <a:ext cx="617220" cy="5143500"/>
          </a:xfrm>
          <a:prstGeom prst="rect">
            <a:avLst/>
          </a:prstGeom>
          <a:solidFill>
            <a:srgbClr val="DCEEFF">
              <a:alpha val="5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0"/>
            <a:ext cx="617220" cy="5143500"/>
          </a:xfrm>
          <a:prstGeom prst="rect">
            <a:avLst/>
          </a:prstGeom>
          <a:solidFill>
            <a:srgbClr val="DCEEFF">
              <a:alpha val="4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43500" y="0"/>
            <a:ext cx="617220" cy="5143500"/>
          </a:xfrm>
          <a:prstGeom prst="rect">
            <a:avLst/>
          </a:prstGeom>
          <a:solidFill>
            <a:srgbClr val="DCEEFF">
              <a:alpha val="4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0"/>
            <a:ext cx="617220" cy="5143500"/>
          </a:xfrm>
          <a:prstGeom prst="rect">
            <a:avLst/>
          </a:prstGeom>
          <a:solidFill>
            <a:srgbClr val="DCEEFF">
              <a:alpha val="3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0"/>
            <a:ext cx="617220" cy="5143500"/>
          </a:xfrm>
          <a:prstGeom prst="rect">
            <a:avLst/>
          </a:prstGeom>
          <a:solidFill>
            <a:srgbClr val="DCEEFF">
              <a:alpha val="2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0"/>
            <a:ext cx="617220" cy="5143500"/>
          </a:xfrm>
          <a:prstGeom prst="rect">
            <a:avLst/>
          </a:prstGeom>
          <a:solidFill>
            <a:srgbClr val="DCEEFF">
              <a:alpha val="2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9500" y="0"/>
            <a:ext cx="617220" cy="5143500"/>
          </a:xfrm>
          <a:prstGeom prst="rect">
            <a:avLst/>
          </a:prstGeom>
          <a:solidFill>
            <a:srgbClr val="DCEEFF">
              <a:alpha val="1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617220" cy="5143500"/>
          </a:xfrm>
          <a:prstGeom prst="rect">
            <a:avLst/>
          </a:prstGeom>
          <a:solidFill>
            <a:srgbClr val="DCEEFF">
              <a:alpha val="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72500" y="0"/>
            <a:ext cx="617220" cy="5143500"/>
          </a:xfrm>
          <a:prstGeom prst="rect">
            <a:avLst/>
          </a:prstGeom>
          <a:solidFill>
            <a:srgbClr val="DCEEFF">
              <a:alpha val="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 </a:t>
            </a:r>
            <a:r>
              <a:rPr lang="en-US" sz="30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457200" y="932688"/>
            <a:ext cx="1005840" cy="3657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078992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1078992"/>
            <a:ext cx="146304" cy="65836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115214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Controllers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" y="1426464"/>
            <a:ext cx="6949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Endpoints REST — reçoit et répond aux requêtes HTTP clients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16368" y="1243584"/>
            <a:ext cx="1051560" cy="274320"/>
          </a:xfrm>
          <a:prstGeom prst="rect">
            <a:avLst/>
          </a:prstGeom>
          <a:solidFill>
            <a:srgbClr val="2F80ED">
              <a:alpha val="18000"/>
            </a:srgbClr>
          </a:solidFill>
          <a:ln w="12700">
            <a:solidFill>
              <a:srgbClr val="2F80ED">
                <a:alpha val="1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16368" y="1243584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1837944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1837944"/>
            <a:ext cx="14630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191109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3232" y="2185416"/>
            <a:ext cx="6949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Logique métier — traitement, validation et orchestration des données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516368" y="2002536"/>
            <a:ext cx="1051560" cy="274320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1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16368" y="2002536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2596896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11480" y="2596896"/>
            <a:ext cx="146304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267004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Repositories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13232" y="2944368"/>
            <a:ext cx="6949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Accès données — interfaces Spring Data JPA vers MySQL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516368" y="2761488"/>
            <a:ext cx="1051560" cy="274320"/>
          </a:xfrm>
          <a:prstGeom prst="rect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18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16368" y="2761488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3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3355848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11480" y="3355848"/>
            <a:ext cx="14630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" y="34290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Entities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13232" y="3703320"/>
            <a:ext cx="6949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Modèles de données — classes Java mappées vers les tables MySQL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516368" y="3520440"/>
            <a:ext cx="1051560" cy="274320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18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16368" y="352044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4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4114800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11480" y="4114800"/>
            <a:ext cx="146304" cy="6583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3232" y="418795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Configuration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13232" y="4462272"/>
            <a:ext cx="6949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Sécurité JWT, CORS, propriétés et configuration Spring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16368" y="4279392"/>
            <a:ext cx="1051560" cy="274320"/>
          </a:xfrm>
          <a:prstGeom prst="rect">
            <a:avLst/>
          </a:prstGeom>
          <a:solidFill>
            <a:srgbClr val="14B8A6">
              <a:alpha val="18000"/>
            </a:srgbClr>
          </a:solidFill>
          <a:ln w="12700">
            <a:solidFill>
              <a:srgbClr val="14B8A6">
                <a:alpha val="18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16368" y="427939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7220" cy="5143500"/>
          </a:xfrm>
          <a:prstGeom prst="rect">
            <a:avLst/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" y="0"/>
            <a:ext cx="617220" cy="5143500"/>
          </a:xfrm>
          <a:prstGeom prst="rect">
            <a:avLst/>
          </a:prstGeom>
          <a:solidFill>
            <a:srgbClr val="DCEEFF">
              <a:alpha val="9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0"/>
            <a:ext cx="617220" cy="5143500"/>
          </a:xfrm>
          <a:prstGeom prst="rect">
            <a:avLst/>
          </a:prstGeom>
          <a:solidFill>
            <a:srgbClr val="DCEEFF">
              <a:alpha val="8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14500" y="0"/>
            <a:ext cx="617220" cy="5143500"/>
          </a:xfrm>
          <a:prstGeom prst="rect">
            <a:avLst/>
          </a:prstGeom>
          <a:solidFill>
            <a:srgbClr val="DCEEFF">
              <a:alpha val="8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617220" cy="5143500"/>
          </a:xfrm>
          <a:prstGeom prst="rect">
            <a:avLst/>
          </a:prstGeom>
          <a:solidFill>
            <a:srgbClr val="DCEEFF">
              <a:alpha val="7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7500" y="0"/>
            <a:ext cx="617220" cy="5143500"/>
          </a:xfrm>
          <a:prstGeom prst="rect">
            <a:avLst/>
          </a:prstGeom>
          <a:solidFill>
            <a:srgbClr val="DCEEFF">
              <a:alpha val="6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617220" cy="5143500"/>
          </a:xfrm>
          <a:prstGeom prst="rect">
            <a:avLst/>
          </a:prstGeom>
          <a:solidFill>
            <a:srgbClr val="DCEEFF">
              <a:alpha val="6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00500" y="0"/>
            <a:ext cx="617220" cy="5143500"/>
          </a:xfrm>
          <a:prstGeom prst="rect">
            <a:avLst/>
          </a:prstGeom>
          <a:solidFill>
            <a:srgbClr val="DCEEFF">
              <a:alpha val="5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0"/>
            <a:ext cx="617220" cy="5143500"/>
          </a:xfrm>
          <a:prstGeom prst="rect">
            <a:avLst/>
          </a:prstGeom>
          <a:solidFill>
            <a:srgbClr val="DCEEFF">
              <a:alpha val="4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43500" y="0"/>
            <a:ext cx="617220" cy="5143500"/>
          </a:xfrm>
          <a:prstGeom prst="rect">
            <a:avLst/>
          </a:prstGeom>
          <a:solidFill>
            <a:srgbClr val="DCEEFF">
              <a:alpha val="4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0"/>
            <a:ext cx="617220" cy="5143500"/>
          </a:xfrm>
          <a:prstGeom prst="rect">
            <a:avLst/>
          </a:prstGeom>
          <a:solidFill>
            <a:srgbClr val="DCEEFF">
              <a:alpha val="3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0"/>
            <a:ext cx="617220" cy="5143500"/>
          </a:xfrm>
          <a:prstGeom prst="rect">
            <a:avLst/>
          </a:prstGeom>
          <a:solidFill>
            <a:srgbClr val="DCEEFF">
              <a:alpha val="2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0"/>
            <a:ext cx="617220" cy="5143500"/>
          </a:xfrm>
          <a:prstGeom prst="rect">
            <a:avLst/>
          </a:prstGeom>
          <a:solidFill>
            <a:srgbClr val="DCEEFF">
              <a:alpha val="2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9500" y="0"/>
            <a:ext cx="617220" cy="5143500"/>
          </a:xfrm>
          <a:prstGeom prst="rect">
            <a:avLst/>
          </a:prstGeom>
          <a:solidFill>
            <a:srgbClr val="DCEEFF">
              <a:alpha val="1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617220" cy="5143500"/>
          </a:xfrm>
          <a:prstGeom prst="rect">
            <a:avLst/>
          </a:prstGeom>
          <a:solidFill>
            <a:srgbClr val="DCEEFF">
              <a:alpha val="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72500" y="0"/>
            <a:ext cx="617220" cy="5143500"/>
          </a:xfrm>
          <a:prstGeom prst="rect">
            <a:avLst/>
          </a:prstGeom>
          <a:solidFill>
            <a:srgbClr val="DCEEFF">
              <a:alpha val="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Conception </a:t>
            </a:r>
            <a:r>
              <a:rPr lang="en-US" sz="30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de Données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457200" y="932688"/>
            <a:ext cx="1005840" cy="3657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1078992"/>
            <a:ext cx="2697480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1078992"/>
            <a:ext cx="2697480" cy="36576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107899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1481328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🔑 id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1737360"/>
            <a:ext cx="25146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1764792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📧 email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2020824"/>
            <a:ext cx="25146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048256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🔒 password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2304288"/>
            <a:ext cx="25146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331720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👤 role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46120" y="1078992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46120" y="1078992"/>
            <a:ext cx="269748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55848" y="107899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83280" y="1481328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🔑 id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37560" y="1737360"/>
            <a:ext cx="25146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1764792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📦 name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37560" y="2020824"/>
            <a:ext cx="25146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0" y="2048256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💰 price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337560" y="2304288"/>
            <a:ext cx="25146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0" y="2331720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stock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337560" y="2587752"/>
            <a:ext cx="25146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0" y="2615184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🏷 categoryId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72200" y="1078992"/>
            <a:ext cx="269748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72200" y="1078992"/>
            <a:ext cx="269748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81928" y="107899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Categories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309360" y="1481328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🔑 id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63640" y="1737360"/>
            <a:ext cx="25146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1764792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📋 name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63640" y="2020824"/>
            <a:ext cx="25146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0" y="2048256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📝 description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" y="3218688"/>
            <a:ext cx="2697480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20040" y="3218688"/>
            <a:ext cx="269748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9768" y="321868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Cart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57200" y="3621024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🔑 id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11480" y="3877056"/>
            <a:ext cx="25146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3904488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👤 userId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11480" y="4160520"/>
            <a:ext cx="25146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4187952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📦 productId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11480" y="4443984"/>
            <a:ext cx="25146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471416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🔢 quantity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246120" y="3218688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246120" y="3218688"/>
            <a:ext cx="2697480" cy="365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55848" y="321868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Orders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3383280" y="3621024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🔑 id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337560" y="3877056"/>
            <a:ext cx="25146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83280" y="3904488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👤 userId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337560" y="4160520"/>
            <a:ext cx="25146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83280" y="4187952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💰 total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337560" y="4443984"/>
            <a:ext cx="25146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383280" y="4471416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status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337560" y="4727448"/>
            <a:ext cx="25146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83280" y="4754880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📅 date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3017520" y="1783080"/>
            <a:ext cx="228600" cy="0"/>
          </a:xfrm>
          <a:prstGeom prst="line">
            <a:avLst/>
          </a:prstGeom>
          <a:noFill/>
          <a:ln w="19050">
            <a:solidFill>
              <a:srgbClr val="2F80ED"/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5943600" y="1783080"/>
            <a:ext cx="22860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3017520" y="3749040"/>
            <a:ext cx="2286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7220" cy="5143500"/>
          </a:xfrm>
          <a:prstGeom prst="rect">
            <a:avLst/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" y="0"/>
            <a:ext cx="617220" cy="5143500"/>
          </a:xfrm>
          <a:prstGeom prst="rect">
            <a:avLst/>
          </a:prstGeom>
          <a:solidFill>
            <a:srgbClr val="DCEEFF">
              <a:alpha val="9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0"/>
            <a:ext cx="617220" cy="5143500"/>
          </a:xfrm>
          <a:prstGeom prst="rect">
            <a:avLst/>
          </a:prstGeom>
          <a:solidFill>
            <a:srgbClr val="DCEEFF">
              <a:alpha val="8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14500" y="0"/>
            <a:ext cx="617220" cy="5143500"/>
          </a:xfrm>
          <a:prstGeom prst="rect">
            <a:avLst/>
          </a:prstGeom>
          <a:solidFill>
            <a:srgbClr val="DCEEFF">
              <a:alpha val="8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617220" cy="5143500"/>
          </a:xfrm>
          <a:prstGeom prst="rect">
            <a:avLst/>
          </a:prstGeom>
          <a:solidFill>
            <a:srgbClr val="DCEEFF">
              <a:alpha val="7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7500" y="0"/>
            <a:ext cx="617220" cy="5143500"/>
          </a:xfrm>
          <a:prstGeom prst="rect">
            <a:avLst/>
          </a:prstGeom>
          <a:solidFill>
            <a:srgbClr val="DCEEFF">
              <a:alpha val="6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617220" cy="5143500"/>
          </a:xfrm>
          <a:prstGeom prst="rect">
            <a:avLst/>
          </a:prstGeom>
          <a:solidFill>
            <a:srgbClr val="DCEEFF">
              <a:alpha val="6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00500" y="0"/>
            <a:ext cx="617220" cy="5143500"/>
          </a:xfrm>
          <a:prstGeom prst="rect">
            <a:avLst/>
          </a:prstGeom>
          <a:solidFill>
            <a:srgbClr val="DCEEFF">
              <a:alpha val="5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0"/>
            <a:ext cx="617220" cy="5143500"/>
          </a:xfrm>
          <a:prstGeom prst="rect">
            <a:avLst/>
          </a:prstGeom>
          <a:solidFill>
            <a:srgbClr val="DCEEFF">
              <a:alpha val="4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43500" y="0"/>
            <a:ext cx="617220" cy="5143500"/>
          </a:xfrm>
          <a:prstGeom prst="rect">
            <a:avLst/>
          </a:prstGeom>
          <a:solidFill>
            <a:srgbClr val="DCEEFF">
              <a:alpha val="4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0"/>
            <a:ext cx="617220" cy="5143500"/>
          </a:xfrm>
          <a:prstGeom prst="rect">
            <a:avLst/>
          </a:prstGeom>
          <a:solidFill>
            <a:srgbClr val="DCEEFF">
              <a:alpha val="3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0"/>
            <a:ext cx="617220" cy="5143500"/>
          </a:xfrm>
          <a:prstGeom prst="rect">
            <a:avLst/>
          </a:prstGeom>
          <a:solidFill>
            <a:srgbClr val="DCEEFF">
              <a:alpha val="2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0"/>
            <a:ext cx="617220" cy="5143500"/>
          </a:xfrm>
          <a:prstGeom prst="rect">
            <a:avLst/>
          </a:prstGeom>
          <a:solidFill>
            <a:srgbClr val="DCEEFF">
              <a:alpha val="2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9500" y="0"/>
            <a:ext cx="617220" cy="5143500"/>
          </a:xfrm>
          <a:prstGeom prst="rect">
            <a:avLst/>
          </a:prstGeom>
          <a:solidFill>
            <a:srgbClr val="DCEEFF">
              <a:alpha val="1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617220" cy="5143500"/>
          </a:xfrm>
          <a:prstGeom prst="rect">
            <a:avLst/>
          </a:prstGeom>
          <a:solidFill>
            <a:srgbClr val="DCEEFF">
              <a:alpha val="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72500" y="0"/>
            <a:ext cx="617220" cy="5143500"/>
          </a:xfrm>
          <a:prstGeom prst="rect">
            <a:avLst/>
          </a:prstGeom>
          <a:solidFill>
            <a:srgbClr val="DCEEFF">
              <a:alpha val="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</a:t>
            </a:r>
            <a:r>
              <a:rPr lang="en-US" sz="30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Interface</a:t>
            </a:r>
            <a:r>
              <a:rPr lang="en-US" sz="3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Utilisateur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457200" y="932688"/>
            <a:ext cx="1005840" cy="3657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1078992"/>
            <a:ext cx="41605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0352" y="114300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Palette Couleurs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0352" y="1508760"/>
            <a:ext cx="594360" cy="5486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2103120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261872" y="1508760"/>
            <a:ext cx="59436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61872" y="2103120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993392" y="1508760"/>
            <a:ext cx="594360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93392" y="2103120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Accent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724912" y="1508760"/>
            <a:ext cx="5943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24912" y="2103120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Warning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456432" y="1508760"/>
            <a:ext cx="59436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56432" y="2103120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Dark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47472" y="2724912"/>
            <a:ext cx="416052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30352" y="2798064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Typographie — Calibri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0352" y="3182112"/>
            <a:ext cx="3749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Titre Principal Bold 24pt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30352" y="3630168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Sous-titre / Section 14pt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0352" y="3977640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Corps de texte standard 12pt — Calibri Light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773168" y="1078992"/>
            <a:ext cx="1325880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084064" y="1325880"/>
            <a:ext cx="685800" cy="685800"/>
          </a:xfrm>
          <a:prstGeom prst="rect">
            <a:avLst/>
          </a:prstGeom>
          <a:solidFill>
            <a:srgbClr val="2F80ED">
              <a:alpha val="18000"/>
            </a:srgbClr>
          </a:solidFill>
          <a:ln w="12700">
            <a:solidFill>
              <a:srgbClr val="2F80ED">
                <a:alpha val="18000"/>
              </a:srgbClr>
            </a:solidFill>
            <a:prstDash val="solid"/>
          </a:ln>
        </p:spPr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9784" y="1371600"/>
            <a:ext cx="566928" cy="566928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4773168" y="2121408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Desktop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4773168" y="246888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1440px+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236208" y="1078992"/>
            <a:ext cx="1325880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6547104" y="1325880"/>
            <a:ext cx="685800" cy="685800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18000"/>
              </a:srgbClr>
            </a:solidFill>
            <a:prstDash val="solid"/>
          </a:ln>
        </p:spPr>
      </p:sp>
      <p:pic>
        <p:nvPicPr>
          <p:cNvPr id="4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1371600"/>
            <a:ext cx="566928" cy="566928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6236208" y="2121408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Tablet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6236208" y="246888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768–1024px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7699248" y="1078992"/>
            <a:ext cx="1325880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44"/>
          <p:cNvSpPr/>
          <p:nvPr/>
        </p:nvSpPr>
        <p:spPr>
          <a:xfrm>
            <a:off x="8010144" y="1325880"/>
            <a:ext cx="685800" cy="685800"/>
          </a:xfrm>
          <a:prstGeom prst="rect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18000"/>
              </a:srgbClr>
            </a:solidFill>
            <a:prstDash val="solid"/>
          </a:ln>
        </p:spPr>
      </p:sp>
      <p:pic>
        <p:nvPicPr>
          <p:cNvPr id="4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864" y="1371600"/>
            <a:ext cx="566928" cy="566928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7699248" y="2121408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</a:t>
            </a:r>
            <a:endParaRPr lang="en-US" sz="1200" dirty="0"/>
          </a:p>
        </p:txBody>
      </p:sp>
      <p:sp>
        <p:nvSpPr>
          <p:cNvPr id="51" name="Text 46"/>
          <p:cNvSpPr/>
          <p:nvPr/>
        </p:nvSpPr>
        <p:spPr>
          <a:xfrm>
            <a:off x="7699248" y="246888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320–767px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7220" cy="5143500"/>
          </a:xfrm>
          <a:prstGeom prst="rect">
            <a:avLst/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" y="0"/>
            <a:ext cx="617220" cy="5143500"/>
          </a:xfrm>
          <a:prstGeom prst="rect">
            <a:avLst/>
          </a:prstGeom>
          <a:solidFill>
            <a:srgbClr val="DCEEFF">
              <a:alpha val="9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0"/>
            <a:ext cx="617220" cy="5143500"/>
          </a:xfrm>
          <a:prstGeom prst="rect">
            <a:avLst/>
          </a:prstGeom>
          <a:solidFill>
            <a:srgbClr val="DCEEFF">
              <a:alpha val="8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14500" y="0"/>
            <a:ext cx="617220" cy="5143500"/>
          </a:xfrm>
          <a:prstGeom prst="rect">
            <a:avLst/>
          </a:prstGeom>
          <a:solidFill>
            <a:srgbClr val="DCEEFF">
              <a:alpha val="8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617220" cy="5143500"/>
          </a:xfrm>
          <a:prstGeom prst="rect">
            <a:avLst/>
          </a:prstGeom>
          <a:solidFill>
            <a:srgbClr val="DCEEFF">
              <a:alpha val="7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7500" y="0"/>
            <a:ext cx="617220" cy="5143500"/>
          </a:xfrm>
          <a:prstGeom prst="rect">
            <a:avLst/>
          </a:prstGeom>
          <a:solidFill>
            <a:srgbClr val="DCEEFF">
              <a:alpha val="6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617220" cy="5143500"/>
          </a:xfrm>
          <a:prstGeom prst="rect">
            <a:avLst/>
          </a:prstGeom>
          <a:solidFill>
            <a:srgbClr val="DCEEFF">
              <a:alpha val="6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00500" y="0"/>
            <a:ext cx="617220" cy="5143500"/>
          </a:xfrm>
          <a:prstGeom prst="rect">
            <a:avLst/>
          </a:prstGeom>
          <a:solidFill>
            <a:srgbClr val="DCEEFF">
              <a:alpha val="5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0"/>
            <a:ext cx="617220" cy="5143500"/>
          </a:xfrm>
          <a:prstGeom prst="rect">
            <a:avLst/>
          </a:prstGeom>
          <a:solidFill>
            <a:srgbClr val="DCEEFF">
              <a:alpha val="4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43500" y="0"/>
            <a:ext cx="617220" cy="5143500"/>
          </a:xfrm>
          <a:prstGeom prst="rect">
            <a:avLst/>
          </a:prstGeom>
          <a:solidFill>
            <a:srgbClr val="DCEEFF">
              <a:alpha val="4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0"/>
            <a:ext cx="617220" cy="5143500"/>
          </a:xfrm>
          <a:prstGeom prst="rect">
            <a:avLst/>
          </a:prstGeom>
          <a:solidFill>
            <a:srgbClr val="DCEEFF">
              <a:alpha val="3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0"/>
            <a:ext cx="617220" cy="5143500"/>
          </a:xfrm>
          <a:prstGeom prst="rect">
            <a:avLst/>
          </a:prstGeom>
          <a:solidFill>
            <a:srgbClr val="DCEEFF">
              <a:alpha val="2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0"/>
            <a:ext cx="617220" cy="5143500"/>
          </a:xfrm>
          <a:prstGeom prst="rect">
            <a:avLst/>
          </a:prstGeom>
          <a:solidFill>
            <a:srgbClr val="DCEEFF">
              <a:alpha val="2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9500" y="0"/>
            <a:ext cx="617220" cy="5143500"/>
          </a:xfrm>
          <a:prstGeom prst="rect">
            <a:avLst/>
          </a:prstGeom>
          <a:solidFill>
            <a:srgbClr val="DCEEFF">
              <a:alpha val="1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617220" cy="5143500"/>
          </a:xfrm>
          <a:prstGeom prst="rect">
            <a:avLst/>
          </a:prstGeom>
          <a:solidFill>
            <a:srgbClr val="DCEEFF">
              <a:alpha val="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72500" y="0"/>
            <a:ext cx="617220" cy="5143500"/>
          </a:xfrm>
          <a:prstGeom prst="rect">
            <a:avLst/>
          </a:prstGeom>
          <a:solidFill>
            <a:srgbClr val="DCEEFF">
              <a:alpha val="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 Page</a:t>
            </a:r>
            <a:r>
              <a:rPr lang="en-US" sz="3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Interface Principale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457200" y="932688"/>
            <a:ext cx="1005840" cy="3657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1078992"/>
            <a:ext cx="845820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1078992"/>
            <a:ext cx="845820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1179576"/>
            <a:ext cx="155448" cy="155448"/>
          </a:xfrm>
          <a:prstGeom prst="rect">
            <a:avLst/>
          </a:prstGeom>
          <a:solidFill>
            <a:srgbClr val="FC5F5A"/>
          </a:solidFill>
          <a:ln w="12700">
            <a:solidFill>
              <a:srgbClr val="FC5F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" y="1179576"/>
            <a:ext cx="155448" cy="155448"/>
          </a:xfrm>
          <a:prstGeom prst="rect">
            <a:avLst/>
          </a:prstGeom>
          <a:solidFill>
            <a:srgbClr val="FCBB40"/>
          </a:solidFill>
          <a:ln w="12700">
            <a:solidFill>
              <a:srgbClr val="FCBB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7552" y="1179576"/>
            <a:ext cx="155448" cy="155448"/>
          </a:xfrm>
          <a:prstGeom prst="rect">
            <a:avLst/>
          </a:prstGeom>
          <a:solidFill>
            <a:srgbClr val="34C749"/>
          </a:solidFill>
          <a:ln w="12700">
            <a:solidFill>
              <a:srgbClr val="34C7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25880" y="1124712"/>
            <a:ext cx="53035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89888" y="1143000"/>
            <a:ext cx="5166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localhost:5173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7472" y="1463040"/>
            <a:ext cx="8458200" cy="43891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150876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</a:t>
            </a: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743200" y="1527048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Accueil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023360" y="1527048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Produits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03520" y="1527048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Catégories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83680" y="1527048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Contact</a:t>
            </a:r>
            <a:endParaRPr lang="en-US" sz="1000" dirty="0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545336"/>
            <a:ext cx="256032" cy="256032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347472" y="1901952"/>
            <a:ext cx="8458200" cy="1417320"/>
          </a:xfrm>
          <a:prstGeom prst="rect">
            <a:avLst/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4360" y="1993392"/>
            <a:ext cx="5669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Découvrez la </a:t>
            </a:r>
            <a:r>
              <a:rPr lang="en-US" sz="19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Technologie</a:t>
            </a:r>
            <a:r>
              <a:rPr lang="en-US" sz="19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de Demain</a:t>
            </a:r>
            <a:endParaRPr lang="en-US" sz="1900" dirty="0"/>
          </a:p>
        </p:txBody>
      </p:sp>
      <p:sp>
        <p:nvSpPr>
          <p:cNvPr id="36" name="Text 33"/>
          <p:cNvSpPr/>
          <p:nvPr/>
        </p:nvSpPr>
        <p:spPr>
          <a:xfrm>
            <a:off x="594360" y="251460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Explorez notre catalogue de produits électroniques premium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94360" y="2852928"/>
            <a:ext cx="1554480" cy="3383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4360" y="2852928"/>
            <a:ext cx="155448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Voir Produits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594360" y="3319272"/>
            <a:ext cx="2377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94360" y="3319272"/>
            <a:ext cx="2377440" cy="713232"/>
          </a:xfrm>
          <a:prstGeom prst="rect">
            <a:avLst/>
          </a:prstGeom>
          <a:solidFill>
            <a:srgbClr val="2F80ED">
              <a:alpha val="18000"/>
            </a:srgbClr>
          </a:solidFill>
          <a:ln w="12700">
            <a:solidFill>
              <a:srgbClr val="2F80ED">
                <a:alpha val="18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49808" y="409651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Produit 1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749808" y="437083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€299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3227832" y="3319272"/>
            <a:ext cx="2377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3227832" y="3319272"/>
            <a:ext cx="2377440" cy="713232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18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383280" y="409651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Produit 2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3383280" y="437083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€599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5861304" y="3319272"/>
            <a:ext cx="2377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5861304" y="3319272"/>
            <a:ext cx="2377440" cy="713232"/>
          </a:xfrm>
          <a:prstGeom prst="rect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1800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016752" y="409651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Produit 3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6016752" y="437083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€149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7220" cy="5143500"/>
          </a:xfrm>
          <a:prstGeom prst="rect">
            <a:avLst/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" y="0"/>
            <a:ext cx="617220" cy="5143500"/>
          </a:xfrm>
          <a:prstGeom prst="rect">
            <a:avLst/>
          </a:prstGeom>
          <a:solidFill>
            <a:srgbClr val="DCEEFF">
              <a:alpha val="9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0"/>
            <a:ext cx="617220" cy="5143500"/>
          </a:xfrm>
          <a:prstGeom prst="rect">
            <a:avLst/>
          </a:prstGeom>
          <a:solidFill>
            <a:srgbClr val="DCEEFF">
              <a:alpha val="8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14500" y="0"/>
            <a:ext cx="617220" cy="5143500"/>
          </a:xfrm>
          <a:prstGeom prst="rect">
            <a:avLst/>
          </a:prstGeom>
          <a:solidFill>
            <a:srgbClr val="DCEEFF">
              <a:alpha val="8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617220" cy="5143500"/>
          </a:xfrm>
          <a:prstGeom prst="rect">
            <a:avLst/>
          </a:prstGeom>
          <a:solidFill>
            <a:srgbClr val="DCEEFF">
              <a:alpha val="7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7500" y="0"/>
            <a:ext cx="617220" cy="5143500"/>
          </a:xfrm>
          <a:prstGeom prst="rect">
            <a:avLst/>
          </a:prstGeom>
          <a:solidFill>
            <a:srgbClr val="DCEEFF">
              <a:alpha val="6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617220" cy="5143500"/>
          </a:xfrm>
          <a:prstGeom prst="rect">
            <a:avLst/>
          </a:prstGeom>
          <a:solidFill>
            <a:srgbClr val="DCEEFF">
              <a:alpha val="6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00500" y="0"/>
            <a:ext cx="617220" cy="5143500"/>
          </a:xfrm>
          <a:prstGeom prst="rect">
            <a:avLst/>
          </a:prstGeom>
          <a:solidFill>
            <a:srgbClr val="DCEEFF">
              <a:alpha val="5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0"/>
            <a:ext cx="617220" cy="5143500"/>
          </a:xfrm>
          <a:prstGeom prst="rect">
            <a:avLst/>
          </a:prstGeom>
          <a:solidFill>
            <a:srgbClr val="DCEEFF">
              <a:alpha val="4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43500" y="0"/>
            <a:ext cx="617220" cy="5143500"/>
          </a:xfrm>
          <a:prstGeom prst="rect">
            <a:avLst/>
          </a:prstGeom>
          <a:solidFill>
            <a:srgbClr val="DCEEFF">
              <a:alpha val="4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0"/>
            <a:ext cx="617220" cy="5143500"/>
          </a:xfrm>
          <a:prstGeom prst="rect">
            <a:avLst/>
          </a:prstGeom>
          <a:solidFill>
            <a:srgbClr val="DCEEFF">
              <a:alpha val="3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0"/>
            <a:ext cx="617220" cy="5143500"/>
          </a:xfrm>
          <a:prstGeom prst="rect">
            <a:avLst/>
          </a:prstGeom>
          <a:solidFill>
            <a:srgbClr val="DCEEFF">
              <a:alpha val="2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0"/>
            <a:ext cx="617220" cy="5143500"/>
          </a:xfrm>
          <a:prstGeom prst="rect">
            <a:avLst/>
          </a:prstGeom>
          <a:solidFill>
            <a:srgbClr val="DCEEFF">
              <a:alpha val="2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9500" y="0"/>
            <a:ext cx="617220" cy="5143500"/>
          </a:xfrm>
          <a:prstGeom prst="rect">
            <a:avLst/>
          </a:prstGeom>
          <a:solidFill>
            <a:srgbClr val="DCEEFF">
              <a:alpha val="1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617220" cy="5143500"/>
          </a:xfrm>
          <a:prstGeom prst="rect">
            <a:avLst/>
          </a:prstGeom>
          <a:solidFill>
            <a:srgbClr val="DCEEFF">
              <a:alpha val="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72500" y="0"/>
            <a:ext cx="617220" cy="5143500"/>
          </a:xfrm>
          <a:prstGeom prst="rect">
            <a:avLst/>
          </a:prstGeom>
          <a:solidFill>
            <a:srgbClr val="DCEEFF">
              <a:alpha val="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Catalogue</a:t>
            </a:r>
            <a:r>
              <a:rPr lang="en-US" sz="3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Produits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457200" y="932688"/>
            <a:ext cx="1005840" cy="3657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1078992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1078992"/>
            <a:ext cx="2651760" cy="804672"/>
          </a:xfrm>
          <a:prstGeom prst="rect">
            <a:avLst/>
          </a:prstGeom>
          <a:solidFill>
            <a:srgbClr val="2F80ED">
              <a:alpha val="20000"/>
            </a:srgbClr>
          </a:solidFill>
          <a:ln w="12700">
            <a:solidFill>
              <a:srgbClr val="2F80ED">
                <a:alpha val="20000"/>
              </a:srgbClr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1243584"/>
            <a:ext cx="621792" cy="475488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47472" y="1883664"/>
            <a:ext cx="2651760" cy="237744"/>
          </a:xfrm>
          <a:prstGeom prst="rect">
            <a:avLst/>
          </a:prstGeom>
          <a:solidFill>
            <a:srgbClr val="2F80ED">
              <a:alpha val="10000"/>
            </a:srgbClr>
          </a:solidFill>
          <a:ln w="12700">
            <a:solidFill>
              <a:srgbClr val="2F80ED">
                <a:alpha val="1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1901952"/>
            <a:ext cx="2423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Laptops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57200" y="2157984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MacBook Pro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157984" y="2157984"/>
            <a:ext cx="731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€1 299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57200" y="2496312"/>
            <a:ext cx="2423160" cy="20116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2496312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Ajouter au Panier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246120" y="1078992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246120" y="1078992"/>
            <a:ext cx="2651760" cy="804672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243584"/>
            <a:ext cx="621792" cy="475488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3246120" y="1883664"/>
            <a:ext cx="2651760" cy="237744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1000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355848" y="1901952"/>
            <a:ext cx="2423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Phones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3355848" y="2157984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iPhone 15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5056632" y="2157984"/>
            <a:ext cx="731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€999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3355848" y="2496312"/>
            <a:ext cx="242316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355848" y="2496312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Ajouter au Panier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6144768" y="1078992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6144768" y="1078992"/>
            <a:ext cx="2651760" cy="804672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1243584"/>
            <a:ext cx="621792" cy="475488"/>
          </a:xfrm>
          <a:prstGeom prst="rect">
            <a:avLst/>
          </a:prstGeom>
        </p:spPr>
      </p:pic>
      <p:sp>
        <p:nvSpPr>
          <p:cNvPr id="41" name="Shape 36"/>
          <p:cNvSpPr/>
          <p:nvPr/>
        </p:nvSpPr>
        <p:spPr>
          <a:xfrm>
            <a:off x="6144768" y="1883664"/>
            <a:ext cx="2651760" cy="237744"/>
          </a:xfrm>
          <a:prstGeom prst="rect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10000"/>
              </a:srgbClr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6254496" y="1901952"/>
            <a:ext cx="2423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Audio</a:t>
            </a:r>
            <a:endParaRPr lang="en-US" sz="850" dirty="0"/>
          </a:p>
        </p:txBody>
      </p:sp>
      <p:sp>
        <p:nvSpPr>
          <p:cNvPr id="43" name="Text 38"/>
          <p:cNvSpPr/>
          <p:nvPr/>
        </p:nvSpPr>
        <p:spPr>
          <a:xfrm>
            <a:off x="6254496" y="2157984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AirPods Pro</a:t>
            </a:r>
            <a:endParaRPr lang="en-US" sz="1100" dirty="0"/>
          </a:p>
        </p:txBody>
      </p:sp>
      <p:sp>
        <p:nvSpPr>
          <p:cNvPr id="44" name="Text 39"/>
          <p:cNvSpPr/>
          <p:nvPr/>
        </p:nvSpPr>
        <p:spPr>
          <a:xfrm>
            <a:off x="7955280" y="2157984"/>
            <a:ext cx="731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€249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6254496" y="2496312"/>
            <a:ext cx="2423160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6254496" y="2496312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Ajouter au Panier</a:t>
            </a:r>
            <a:endParaRPr lang="en-US" sz="850" dirty="0"/>
          </a:p>
        </p:txBody>
      </p:sp>
      <p:sp>
        <p:nvSpPr>
          <p:cNvPr id="47" name="Shape 42"/>
          <p:cNvSpPr/>
          <p:nvPr/>
        </p:nvSpPr>
        <p:spPr>
          <a:xfrm>
            <a:off x="347472" y="2944368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43"/>
          <p:cNvSpPr/>
          <p:nvPr/>
        </p:nvSpPr>
        <p:spPr>
          <a:xfrm>
            <a:off x="347472" y="2944368"/>
            <a:ext cx="2651760" cy="80467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pic>
        <p:nvPicPr>
          <p:cNvPr id="4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7592" y="3108960"/>
            <a:ext cx="621792" cy="475488"/>
          </a:xfrm>
          <a:prstGeom prst="rect">
            <a:avLst/>
          </a:prstGeom>
        </p:spPr>
      </p:pic>
      <p:sp>
        <p:nvSpPr>
          <p:cNvPr id="50" name="Shape 44"/>
          <p:cNvSpPr/>
          <p:nvPr/>
        </p:nvSpPr>
        <p:spPr>
          <a:xfrm>
            <a:off x="347472" y="3749040"/>
            <a:ext cx="2651760" cy="237744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10000"/>
              </a:srgbClr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457200" y="3767328"/>
            <a:ext cx="2423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Tablets</a:t>
            </a:r>
            <a:endParaRPr lang="en-US" sz="850" dirty="0"/>
          </a:p>
        </p:txBody>
      </p:sp>
      <p:sp>
        <p:nvSpPr>
          <p:cNvPr id="52" name="Text 46"/>
          <p:cNvSpPr/>
          <p:nvPr/>
        </p:nvSpPr>
        <p:spPr>
          <a:xfrm>
            <a:off x="457200" y="402336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iPad Air</a:t>
            </a:r>
            <a:endParaRPr lang="en-US" sz="1100" dirty="0"/>
          </a:p>
        </p:txBody>
      </p:sp>
      <p:sp>
        <p:nvSpPr>
          <p:cNvPr id="53" name="Text 47"/>
          <p:cNvSpPr/>
          <p:nvPr/>
        </p:nvSpPr>
        <p:spPr>
          <a:xfrm>
            <a:off x="2157984" y="4023360"/>
            <a:ext cx="731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€699</a:t>
            </a:r>
            <a:endParaRPr lang="en-US" sz="1200" dirty="0"/>
          </a:p>
        </p:txBody>
      </p:sp>
      <p:sp>
        <p:nvSpPr>
          <p:cNvPr id="54" name="Shape 48"/>
          <p:cNvSpPr/>
          <p:nvPr/>
        </p:nvSpPr>
        <p:spPr>
          <a:xfrm>
            <a:off x="457200" y="4361688"/>
            <a:ext cx="242316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457200" y="4361688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Ajouter au Panier</a:t>
            </a:r>
            <a:endParaRPr lang="en-US" sz="850" dirty="0"/>
          </a:p>
        </p:txBody>
      </p:sp>
      <p:sp>
        <p:nvSpPr>
          <p:cNvPr id="56" name="Shape 50"/>
          <p:cNvSpPr/>
          <p:nvPr/>
        </p:nvSpPr>
        <p:spPr>
          <a:xfrm>
            <a:off x="3246120" y="2944368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7" name="Shape 51"/>
          <p:cNvSpPr/>
          <p:nvPr/>
        </p:nvSpPr>
        <p:spPr>
          <a:xfrm>
            <a:off x="3246120" y="2944368"/>
            <a:ext cx="2651760" cy="804672"/>
          </a:xfrm>
          <a:prstGeom prst="rect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</p:sp>
      <p:pic>
        <p:nvPicPr>
          <p:cNvPr id="5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3108960"/>
            <a:ext cx="621792" cy="475488"/>
          </a:xfrm>
          <a:prstGeom prst="rect">
            <a:avLst/>
          </a:prstGeom>
        </p:spPr>
      </p:pic>
      <p:sp>
        <p:nvSpPr>
          <p:cNvPr id="59" name="Shape 52"/>
          <p:cNvSpPr/>
          <p:nvPr/>
        </p:nvSpPr>
        <p:spPr>
          <a:xfrm>
            <a:off x="3246120" y="3749040"/>
            <a:ext cx="2651760" cy="237744"/>
          </a:xfrm>
          <a:prstGeom prst="rect">
            <a:avLst/>
          </a:prstGeom>
          <a:solidFill>
            <a:srgbClr val="14B8A6">
              <a:alpha val="10000"/>
            </a:srgbClr>
          </a:solidFill>
          <a:ln w="12700">
            <a:solidFill>
              <a:srgbClr val="14B8A6">
                <a:alpha val="10000"/>
              </a:srgbClr>
            </a:solidFill>
            <a:prstDash val="solid"/>
          </a:ln>
        </p:spPr>
      </p:sp>
      <p:sp>
        <p:nvSpPr>
          <p:cNvPr id="60" name="Text 53"/>
          <p:cNvSpPr/>
          <p:nvPr/>
        </p:nvSpPr>
        <p:spPr>
          <a:xfrm>
            <a:off x="3355848" y="3767328"/>
            <a:ext cx="2423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Phones</a:t>
            </a:r>
            <a:endParaRPr lang="en-US" sz="850" dirty="0"/>
          </a:p>
        </p:txBody>
      </p:sp>
      <p:sp>
        <p:nvSpPr>
          <p:cNvPr id="61" name="Text 54"/>
          <p:cNvSpPr/>
          <p:nvPr/>
        </p:nvSpPr>
        <p:spPr>
          <a:xfrm>
            <a:off x="3355848" y="402336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Galaxy S24</a:t>
            </a:r>
            <a:endParaRPr lang="en-US" sz="1100" dirty="0"/>
          </a:p>
        </p:txBody>
      </p:sp>
      <p:sp>
        <p:nvSpPr>
          <p:cNvPr id="62" name="Text 55"/>
          <p:cNvSpPr/>
          <p:nvPr/>
        </p:nvSpPr>
        <p:spPr>
          <a:xfrm>
            <a:off x="5056632" y="4023360"/>
            <a:ext cx="731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€849</a:t>
            </a:r>
            <a:endParaRPr lang="en-US" sz="1200" dirty="0"/>
          </a:p>
        </p:txBody>
      </p:sp>
      <p:sp>
        <p:nvSpPr>
          <p:cNvPr id="63" name="Shape 56"/>
          <p:cNvSpPr/>
          <p:nvPr/>
        </p:nvSpPr>
        <p:spPr>
          <a:xfrm>
            <a:off x="3355848" y="4361688"/>
            <a:ext cx="2423160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4" name="Text 57"/>
          <p:cNvSpPr/>
          <p:nvPr/>
        </p:nvSpPr>
        <p:spPr>
          <a:xfrm>
            <a:off x="3355848" y="4361688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Ajouter au Panier</a:t>
            </a:r>
            <a:endParaRPr lang="en-US" sz="850" dirty="0"/>
          </a:p>
        </p:txBody>
      </p:sp>
      <p:sp>
        <p:nvSpPr>
          <p:cNvPr id="65" name="Shape 58"/>
          <p:cNvSpPr/>
          <p:nvPr/>
        </p:nvSpPr>
        <p:spPr>
          <a:xfrm>
            <a:off x="6144768" y="2944368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6" name="Shape 59"/>
          <p:cNvSpPr/>
          <p:nvPr/>
        </p:nvSpPr>
        <p:spPr>
          <a:xfrm>
            <a:off x="6144768" y="2944368"/>
            <a:ext cx="2651760" cy="804672"/>
          </a:xfrm>
          <a:prstGeom prst="rect">
            <a:avLst/>
          </a:prstGeom>
          <a:solidFill>
            <a:srgbClr val="EC4899">
              <a:alpha val="20000"/>
            </a:srgbClr>
          </a:solidFill>
          <a:ln w="12700">
            <a:solidFill>
              <a:srgbClr val="EC4899">
                <a:alpha val="20000"/>
              </a:srgbClr>
            </a:solidFill>
            <a:prstDash val="solid"/>
          </a:ln>
        </p:spPr>
      </p:sp>
      <p:pic>
        <p:nvPicPr>
          <p:cNvPr id="6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888" y="3108960"/>
            <a:ext cx="621792" cy="475488"/>
          </a:xfrm>
          <a:prstGeom prst="rect">
            <a:avLst/>
          </a:prstGeom>
        </p:spPr>
      </p:pic>
      <p:sp>
        <p:nvSpPr>
          <p:cNvPr id="68" name="Shape 60"/>
          <p:cNvSpPr/>
          <p:nvPr/>
        </p:nvSpPr>
        <p:spPr>
          <a:xfrm>
            <a:off x="6144768" y="3749040"/>
            <a:ext cx="2651760" cy="237744"/>
          </a:xfrm>
          <a:prstGeom prst="rect">
            <a:avLst/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10000"/>
              </a:srgbClr>
            </a:solidFill>
            <a:prstDash val="solid"/>
          </a:ln>
        </p:spPr>
      </p:sp>
      <p:sp>
        <p:nvSpPr>
          <p:cNvPr id="69" name="Text 61"/>
          <p:cNvSpPr/>
          <p:nvPr/>
        </p:nvSpPr>
        <p:spPr>
          <a:xfrm>
            <a:off x="6254496" y="3767328"/>
            <a:ext cx="2423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Displays</a:t>
            </a:r>
            <a:endParaRPr lang="en-US" sz="850" dirty="0"/>
          </a:p>
        </p:txBody>
      </p:sp>
      <p:sp>
        <p:nvSpPr>
          <p:cNvPr id="70" name="Text 62"/>
          <p:cNvSpPr/>
          <p:nvPr/>
        </p:nvSpPr>
        <p:spPr>
          <a:xfrm>
            <a:off x="6254496" y="402336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LG 4K Monitor</a:t>
            </a:r>
            <a:endParaRPr lang="en-US" sz="1100" dirty="0"/>
          </a:p>
        </p:txBody>
      </p:sp>
      <p:sp>
        <p:nvSpPr>
          <p:cNvPr id="71" name="Text 63"/>
          <p:cNvSpPr/>
          <p:nvPr/>
        </p:nvSpPr>
        <p:spPr>
          <a:xfrm>
            <a:off x="7955280" y="4023360"/>
            <a:ext cx="731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€1 499</a:t>
            </a:r>
            <a:endParaRPr lang="en-US" sz="1200" dirty="0"/>
          </a:p>
        </p:txBody>
      </p:sp>
      <p:sp>
        <p:nvSpPr>
          <p:cNvPr id="72" name="Shape 64"/>
          <p:cNvSpPr/>
          <p:nvPr/>
        </p:nvSpPr>
        <p:spPr>
          <a:xfrm>
            <a:off x="6254496" y="4361688"/>
            <a:ext cx="2423160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3" name="Text 65"/>
          <p:cNvSpPr/>
          <p:nvPr/>
        </p:nvSpPr>
        <p:spPr>
          <a:xfrm>
            <a:off x="6254496" y="4361688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Ajouter au Panier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7220" cy="5143500"/>
          </a:xfrm>
          <a:prstGeom prst="rect">
            <a:avLst/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" y="0"/>
            <a:ext cx="617220" cy="5143500"/>
          </a:xfrm>
          <a:prstGeom prst="rect">
            <a:avLst/>
          </a:prstGeom>
          <a:solidFill>
            <a:srgbClr val="DCEEFF">
              <a:alpha val="9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0"/>
            <a:ext cx="617220" cy="5143500"/>
          </a:xfrm>
          <a:prstGeom prst="rect">
            <a:avLst/>
          </a:prstGeom>
          <a:solidFill>
            <a:srgbClr val="DCEEFF">
              <a:alpha val="8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14500" y="0"/>
            <a:ext cx="617220" cy="5143500"/>
          </a:xfrm>
          <a:prstGeom prst="rect">
            <a:avLst/>
          </a:prstGeom>
          <a:solidFill>
            <a:srgbClr val="DCEEFF">
              <a:alpha val="8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617220" cy="5143500"/>
          </a:xfrm>
          <a:prstGeom prst="rect">
            <a:avLst/>
          </a:prstGeom>
          <a:solidFill>
            <a:srgbClr val="DCEEFF">
              <a:alpha val="7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7500" y="0"/>
            <a:ext cx="617220" cy="5143500"/>
          </a:xfrm>
          <a:prstGeom prst="rect">
            <a:avLst/>
          </a:prstGeom>
          <a:solidFill>
            <a:srgbClr val="DCEEFF">
              <a:alpha val="6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617220" cy="5143500"/>
          </a:xfrm>
          <a:prstGeom prst="rect">
            <a:avLst/>
          </a:prstGeom>
          <a:solidFill>
            <a:srgbClr val="DCEEFF">
              <a:alpha val="6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00500" y="0"/>
            <a:ext cx="617220" cy="5143500"/>
          </a:xfrm>
          <a:prstGeom prst="rect">
            <a:avLst/>
          </a:prstGeom>
          <a:solidFill>
            <a:srgbClr val="DCEEFF">
              <a:alpha val="5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0"/>
            <a:ext cx="617220" cy="5143500"/>
          </a:xfrm>
          <a:prstGeom prst="rect">
            <a:avLst/>
          </a:prstGeom>
          <a:solidFill>
            <a:srgbClr val="DCEEFF">
              <a:alpha val="4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43500" y="0"/>
            <a:ext cx="617220" cy="5143500"/>
          </a:xfrm>
          <a:prstGeom prst="rect">
            <a:avLst/>
          </a:prstGeom>
          <a:solidFill>
            <a:srgbClr val="DCEEFF">
              <a:alpha val="4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0"/>
            <a:ext cx="617220" cy="5143500"/>
          </a:xfrm>
          <a:prstGeom prst="rect">
            <a:avLst/>
          </a:prstGeom>
          <a:solidFill>
            <a:srgbClr val="DCEEFF">
              <a:alpha val="3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0"/>
            <a:ext cx="617220" cy="5143500"/>
          </a:xfrm>
          <a:prstGeom prst="rect">
            <a:avLst/>
          </a:prstGeom>
          <a:solidFill>
            <a:srgbClr val="DCEEFF">
              <a:alpha val="2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0"/>
            <a:ext cx="617220" cy="5143500"/>
          </a:xfrm>
          <a:prstGeom prst="rect">
            <a:avLst/>
          </a:prstGeom>
          <a:solidFill>
            <a:srgbClr val="DCEEFF">
              <a:alpha val="2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9500" y="0"/>
            <a:ext cx="617220" cy="5143500"/>
          </a:xfrm>
          <a:prstGeom prst="rect">
            <a:avLst/>
          </a:prstGeom>
          <a:solidFill>
            <a:srgbClr val="DCEEFF">
              <a:alpha val="1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617220" cy="5143500"/>
          </a:xfrm>
          <a:prstGeom prst="rect">
            <a:avLst/>
          </a:prstGeom>
          <a:solidFill>
            <a:srgbClr val="DCEEFF">
              <a:alpha val="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72500" y="0"/>
            <a:ext cx="617220" cy="5143500"/>
          </a:xfrm>
          <a:prstGeom prst="rect">
            <a:avLst/>
          </a:prstGeom>
          <a:solidFill>
            <a:srgbClr val="DCEEFF">
              <a:alpha val="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 </a:t>
            </a:r>
            <a:r>
              <a:rPr lang="en-US" sz="30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Détail</a:t>
            </a:r>
            <a:r>
              <a:rPr lang="en-US" sz="3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Produit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457200" y="932688"/>
            <a:ext cx="1005840" cy="3657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1078992"/>
            <a:ext cx="388620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1078992"/>
            <a:ext cx="3886200" cy="2633472"/>
          </a:xfrm>
          <a:prstGeom prst="rect">
            <a:avLst/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389888"/>
            <a:ext cx="2633472" cy="1993392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594360" y="3794760"/>
            <a:ext cx="804672" cy="804672"/>
          </a:xfrm>
          <a:prstGeom prst="rect">
            <a:avLst/>
          </a:prstGeom>
          <a:solidFill>
            <a:srgbClr val="2F80ED">
              <a:alpha val="20000"/>
            </a:srgbClr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645920" y="3794760"/>
            <a:ext cx="804672" cy="804672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697480" y="3794760"/>
            <a:ext cx="804672" cy="804672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0" y="1078992"/>
            <a:ext cx="418795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MacBook Pro 14"</a:t>
            </a:r>
            <a:endParaRPr lang="en-US" sz="20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09344"/>
            <a:ext cx="274320" cy="274320"/>
          </a:xfrm>
          <a:prstGeom prst="rect">
            <a:avLst/>
          </a:prstGeom>
        </p:spPr>
      </p:pic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96" y="1609344"/>
            <a:ext cx="274320" cy="274320"/>
          </a:xfrm>
          <a:prstGeom prst="rect">
            <a:avLst/>
          </a:prstGeom>
        </p:spPr>
      </p:pic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792" y="1609344"/>
            <a:ext cx="274320" cy="274320"/>
          </a:xfrm>
          <a:prstGeom prst="rect">
            <a:avLst/>
          </a:prstGeom>
        </p:spPr>
      </p:pic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4688" y="1609344"/>
            <a:ext cx="274320" cy="274320"/>
          </a:xfrm>
          <a:prstGeom prst="rect">
            <a:avLst/>
          </a:prstGeom>
        </p:spPr>
      </p:pic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5584" y="1609344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199632" y="1627632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(128 avis)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4572000" y="1938528"/>
            <a:ext cx="4114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€ 1 299,00</a:t>
            </a:r>
            <a:endParaRPr lang="en-US" sz="2700" dirty="0"/>
          </a:p>
        </p:txBody>
      </p:sp>
      <p:sp>
        <p:nvSpPr>
          <p:cNvPr id="34" name="Text 26"/>
          <p:cNvSpPr/>
          <p:nvPr/>
        </p:nvSpPr>
        <p:spPr>
          <a:xfrm>
            <a:off x="4572000" y="2542032"/>
            <a:ext cx="41605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Apple M3 Pro · 16 Go RAM · 512 Go SSD · Liquid Retina XDR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4572000" y="3127248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Quantité :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5779008" y="3127248"/>
            <a:ext cx="347472" cy="292608"/>
          </a:xfrm>
          <a:prstGeom prst="rect">
            <a:avLst/>
          </a:prstGeom>
          <a:solidFill>
            <a:srgbClr val="DCEE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5779008" y="3127248"/>
            <a:ext cx="34747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6163056" y="3127248"/>
            <a:ext cx="347472" cy="292608"/>
          </a:xfrm>
          <a:prstGeom prst="rect">
            <a:avLst/>
          </a:prstGeom>
          <a:solidFill>
            <a:srgbClr val="EE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6163056" y="3127248"/>
            <a:ext cx="34747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6547104" y="3127248"/>
            <a:ext cx="347472" cy="292608"/>
          </a:xfrm>
          <a:prstGeom prst="rect">
            <a:avLst/>
          </a:prstGeom>
          <a:solidFill>
            <a:srgbClr val="DCEE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6547104" y="3127248"/>
            <a:ext cx="34747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</a:t>
            </a:r>
            <a:endParaRPr lang="en-US" sz="1200" dirty="0"/>
          </a:p>
        </p:txBody>
      </p:sp>
      <p:sp>
        <p:nvSpPr>
          <p:cNvPr id="42" name="Shape 34"/>
          <p:cNvSpPr/>
          <p:nvPr/>
        </p:nvSpPr>
        <p:spPr>
          <a:xfrm>
            <a:off x="4572000" y="3547872"/>
            <a:ext cx="4114800" cy="43891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4572000" y="3547872"/>
            <a:ext cx="4114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Ajouter au Panier</a:t>
            </a:r>
            <a:endParaRPr lang="en-US" sz="1300" dirty="0"/>
          </a:p>
        </p:txBody>
      </p:sp>
      <p:sp>
        <p:nvSpPr>
          <p:cNvPr id="44" name="Shape 36"/>
          <p:cNvSpPr/>
          <p:nvPr/>
        </p:nvSpPr>
        <p:spPr>
          <a:xfrm>
            <a:off x="4572000" y="4069080"/>
            <a:ext cx="4114800" cy="384048"/>
          </a:xfrm>
          <a:prstGeom prst="rect">
            <a:avLst/>
          </a:prstGeom>
          <a:solidFill>
            <a:srgbClr val="EEF6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4572000" y="40690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Acheter maintenant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7220" cy="5143500"/>
          </a:xfrm>
          <a:prstGeom prst="rect">
            <a:avLst/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" y="0"/>
            <a:ext cx="617220" cy="5143500"/>
          </a:xfrm>
          <a:prstGeom prst="rect">
            <a:avLst/>
          </a:prstGeom>
          <a:solidFill>
            <a:srgbClr val="DCEEFF">
              <a:alpha val="9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0"/>
            <a:ext cx="617220" cy="5143500"/>
          </a:xfrm>
          <a:prstGeom prst="rect">
            <a:avLst/>
          </a:prstGeom>
          <a:solidFill>
            <a:srgbClr val="DCEEFF">
              <a:alpha val="8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14500" y="0"/>
            <a:ext cx="617220" cy="5143500"/>
          </a:xfrm>
          <a:prstGeom prst="rect">
            <a:avLst/>
          </a:prstGeom>
          <a:solidFill>
            <a:srgbClr val="DCEEFF">
              <a:alpha val="8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617220" cy="5143500"/>
          </a:xfrm>
          <a:prstGeom prst="rect">
            <a:avLst/>
          </a:prstGeom>
          <a:solidFill>
            <a:srgbClr val="DCEEFF">
              <a:alpha val="7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7500" y="0"/>
            <a:ext cx="617220" cy="5143500"/>
          </a:xfrm>
          <a:prstGeom prst="rect">
            <a:avLst/>
          </a:prstGeom>
          <a:solidFill>
            <a:srgbClr val="DCEEFF">
              <a:alpha val="6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617220" cy="5143500"/>
          </a:xfrm>
          <a:prstGeom prst="rect">
            <a:avLst/>
          </a:prstGeom>
          <a:solidFill>
            <a:srgbClr val="DCEEFF">
              <a:alpha val="6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00500" y="0"/>
            <a:ext cx="617220" cy="5143500"/>
          </a:xfrm>
          <a:prstGeom prst="rect">
            <a:avLst/>
          </a:prstGeom>
          <a:solidFill>
            <a:srgbClr val="DCEEFF">
              <a:alpha val="5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0"/>
            <a:ext cx="617220" cy="5143500"/>
          </a:xfrm>
          <a:prstGeom prst="rect">
            <a:avLst/>
          </a:prstGeom>
          <a:solidFill>
            <a:srgbClr val="DCEEFF">
              <a:alpha val="4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43500" y="0"/>
            <a:ext cx="617220" cy="5143500"/>
          </a:xfrm>
          <a:prstGeom prst="rect">
            <a:avLst/>
          </a:prstGeom>
          <a:solidFill>
            <a:srgbClr val="DCEEFF">
              <a:alpha val="4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0"/>
            <a:ext cx="617220" cy="5143500"/>
          </a:xfrm>
          <a:prstGeom prst="rect">
            <a:avLst/>
          </a:prstGeom>
          <a:solidFill>
            <a:srgbClr val="DCEEFF">
              <a:alpha val="3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0"/>
            <a:ext cx="617220" cy="5143500"/>
          </a:xfrm>
          <a:prstGeom prst="rect">
            <a:avLst/>
          </a:prstGeom>
          <a:solidFill>
            <a:srgbClr val="DCEEFF">
              <a:alpha val="2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0"/>
            <a:ext cx="617220" cy="5143500"/>
          </a:xfrm>
          <a:prstGeom prst="rect">
            <a:avLst/>
          </a:prstGeom>
          <a:solidFill>
            <a:srgbClr val="DCEEFF">
              <a:alpha val="2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9500" y="0"/>
            <a:ext cx="617220" cy="5143500"/>
          </a:xfrm>
          <a:prstGeom prst="rect">
            <a:avLst/>
          </a:prstGeom>
          <a:solidFill>
            <a:srgbClr val="DCEEFF">
              <a:alpha val="1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617220" cy="5143500"/>
          </a:xfrm>
          <a:prstGeom prst="rect">
            <a:avLst/>
          </a:prstGeom>
          <a:solidFill>
            <a:srgbClr val="DCEEFF">
              <a:alpha val="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72500" y="0"/>
            <a:ext cx="617220" cy="5143500"/>
          </a:xfrm>
          <a:prstGeom prst="rect">
            <a:avLst/>
          </a:prstGeom>
          <a:solidFill>
            <a:srgbClr val="DCEEFF">
              <a:alpha val="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Panier</a:t>
            </a:r>
            <a:r>
              <a:rPr lang="en-US" sz="3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et Commande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457200" y="932688"/>
            <a:ext cx="1005840" cy="3657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1078992"/>
            <a:ext cx="562356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0352" y="1152144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 Panier  (3 articles)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" y="1600200"/>
            <a:ext cx="5349240" cy="822960"/>
          </a:xfrm>
          <a:prstGeom prst="rect">
            <a:avLst/>
          </a:prstGeom>
          <a:solidFill>
            <a:srgbClr val="2F80ED">
              <a:alpha val="7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1682496"/>
            <a:ext cx="566928" cy="566928"/>
          </a:xfrm>
          <a:prstGeom prst="rect">
            <a:avLst/>
          </a:prstGeom>
          <a:solidFill>
            <a:srgbClr val="2F80ED">
              <a:alpha val="25000"/>
            </a:srgbClr>
          </a:solidFill>
          <a:ln w="12700">
            <a:solidFill>
              <a:srgbClr val="2F80ED">
                <a:alpha val="2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0160" y="1700784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MacBook Pro 14"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80160" y="201168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€1299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67328" y="1755648"/>
            <a:ext cx="32918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67328" y="1755648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33088" y="1755648"/>
            <a:ext cx="32918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33088" y="1755648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98848" y="1755648"/>
            <a:ext cx="32918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98848" y="1755648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56048" y="1755648"/>
            <a:ext cx="731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€1299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" y="2560320"/>
            <a:ext cx="5349240" cy="822960"/>
          </a:xfrm>
          <a:prstGeom prst="rect">
            <a:avLst/>
          </a:prstGeom>
          <a:solidFill>
            <a:srgbClr val="8B5CF6">
              <a:alpha val="7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" y="2642616"/>
            <a:ext cx="566928" cy="566928"/>
          </a:xfrm>
          <a:prstGeom prst="rect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>
                <a:alpha val="2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80160" y="2660904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AirPods Pro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280160" y="297180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€249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767328" y="2715768"/>
            <a:ext cx="32918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67328" y="2715768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33088" y="2715768"/>
            <a:ext cx="32918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33088" y="2715768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498848" y="2715768"/>
            <a:ext cx="32918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98848" y="2715768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56048" y="2715768"/>
            <a:ext cx="731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€498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75488" y="3520440"/>
            <a:ext cx="5349240" cy="822960"/>
          </a:xfrm>
          <a:prstGeom prst="rect">
            <a:avLst/>
          </a:prstGeom>
          <a:solidFill>
            <a:srgbClr val="10B981">
              <a:alpha val="7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" y="3602736"/>
            <a:ext cx="566928" cy="566928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2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80160" y="3621024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iPhone 15 Pro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280160" y="39319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€999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767328" y="3675888"/>
            <a:ext cx="32918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67328" y="3675888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133088" y="3675888"/>
            <a:ext cx="32918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33088" y="3675888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498848" y="3675888"/>
            <a:ext cx="32918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98848" y="3675888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956048" y="3675888"/>
            <a:ext cx="731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€999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236208" y="1078992"/>
            <a:ext cx="251460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419088" y="1152144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Résumé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419088" y="164592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Sous-total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406640" y="164592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€2 547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419088" y="210312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Livraison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406640" y="210312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Gratuit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419088" y="256032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TVA (20%)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406640" y="256032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€509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419088" y="3063240"/>
            <a:ext cx="2121408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19088" y="3127248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333488" y="3127248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€3 056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6355080" y="3611880"/>
            <a:ext cx="2286000" cy="4572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55080" y="36118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Passer Commande</a:t>
            </a:r>
            <a:endParaRPr lang="en-US" sz="1100" dirty="0"/>
          </a:p>
        </p:txBody>
      </p:sp>
      <p:pic>
        <p:nvPicPr>
          <p:cNvPr id="6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178808"/>
            <a:ext cx="256032" cy="256032"/>
          </a:xfrm>
          <a:prstGeom prst="rect">
            <a:avLst/>
          </a:prstGeom>
        </p:spPr>
      </p:pic>
      <p:sp>
        <p:nvSpPr>
          <p:cNvPr id="69" name="Text 66"/>
          <p:cNvSpPr/>
          <p:nvPr/>
        </p:nvSpPr>
        <p:spPr>
          <a:xfrm>
            <a:off x="6748272" y="4197096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Paiement sécurisé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7220" cy="5143500"/>
          </a:xfrm>
          <a:prstGeom prst="rect">
            <a:avLst/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" y="0"/>
            <a:ext cx="617220" cy="5143500"/>
          </a:xfrm>
          <a:prstGeom prst="rect">
            <a:avLst/>
          </a:prstGeom>
          <a:solidFill>
            <a:srgbClr val="DCEEFF">
              <a:alpha val="9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0"/>
            <a:ext cx="617220" cy="5143500"/>
          </a:xfrm>
          <a:prstGeom prst="rect">
            <a:avLst/>
          </a:prstGeom>
          <a:solidFill>
            <a:srgbClr val="DCEEFF">
              <a:alpha val="8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14500" y="0"/>
            <a:ext cx="617220" cy="5143500"/>
          </a:xfrm>
          <a:prstGeom prst="rect">
            <a:avLst/>
          </a:prstGeom>
          <a:solidFill>
            <a:srgbClr val="DCEEFF">
              <a:alpha val="8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617220" cy="5143500"/>
          </a:xfrm>
          <a:prstGeom prst="rect">
            <a:avLst/>
          </a:prstGeom>
          <a:solidFill>
            <a:srgbClr val="DCEEFF">
              <a:alpha val="7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7500" y="0"/>
            <a:ext cx="617220" cy="5143500"/>
          </a:xfrm>
          <a:prstGeom prst="rect">
            <a:avLst/>
          </a:prstGeom>
          <a:solidFill>
            <a:srgbClr val="DCEEFF">
              <a:alpha val="6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617220" cy="5143500"/>
          </a:xfrm>
          <a:prstGeom prst="rect">
            <a:avLst/>
          </a:prstGeom>
          <a:solidFill>
            <a:srgbClr val="DCEEFF">
              <a:alpha val="6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00500" y="0"/>
            <a:ext cx="617220" cy="5143500"/>
          </a:xfrm>
          <a:prstGeom prst="rect">
            <a:avLst/>
          </a:prstGeom>
          <a:solidFill>
            <a:srgbClr val="DCEEFF">
              <a:alpha val="5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0"/>
            <a:ext cx="617220" cy="5143500"/>
          </a:xfrm>
          <a:prstGeom prst="rect">
            <a:avLst/>
          </a:prstGeom>
          <a:solidFill>
            <a:srgbClr val="DCEEFF">
              <a:alpha val="4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43500" y="0"/>
            <a:ext cx="617220" cy="5143500"/>
          </a:xfrm>
          <a:prstGeom prst="rect">
            <a:avLst/>
          </a:prstGeom>
          <a:solidFill>
            <a:srgbClr val="DCEEFF">
              <a:alpha val="4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0"/>
            <a:ext cx="617220" cy="5143500"/>
          </a:xfrm>
          <a:prstGeom prst="rect">
            <a:avLst/>
          </a:prstGeom>
          <a:solidFill>
            <a:srgbClr val="DCEEFF">
              <a:alpha val="3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0"/>
            <a:ext cx="617220" cy="5143500"/>
          </a:xfrm>
          <a:prstGeom prst="rect">
            <a:avLst/>
          </a:prstGeom>
          <a:solidFill>
            <a:srgbClr val="DCEEFF">
              <a:alpha val="2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0"/>
            <a:ext cx="617220" cy="5143500"/>
          </a:xfrm>
          <a:prstGeom prst="rect">
            <a:avLst/>
          </a:prstGeom>
          <a:solidFill>
            <a:srgbClr val="DCEEFF">
              <a:alpha val="2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9500" y="0"/>
            <a:ext cx="617220" cy="5143500"/>
          </a:xfrm>
          <a:prstGeom prst="rect">
            <a:avLst/>
          </a:prstGeom>
          <a:solidFill>
            <a:srgbClr val="DCEEFF">
              <a:alpha val="1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617220" cy="5143500"/>
          </a:xfrm>
          <a:prstGeom prst="rect">
            <a:avLst/>
          </a:prstGeom>
          <a:solidFill>
            <a:srgbClr val="DCEEFF">
              <a:alpha val="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72500" y="0"/>
            <a:ext cx="617220" cy="5143500"/>
          </a:xfrm>
          <a:prstGeom prst="rect">
            <a:avLst/>
          </a:prstGeom>
          <a:solidFill>
            <a:srgbClr val="DCEEFF">
              <a:alpha val="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Responsive</a:t>
            </a:r>
            <a:r>
              <a:rPr lang="en-US" sz="3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Design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457200" y="932688"/>
            <a:ext cx="1005840" cy="3657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1078992"/>
            <a:ext cx="365760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" y="1298448"/>
            <a:ext cx="2999232" cy="2011680"/>
          </a:xfrm>
          <a:prstGeom prst="rect">
            <a:avLst/>
          </a:prstGeom>
          <a:solidFill>
            <a:srgbClr val="EEF6FF"/>
          </a:solidFill>
          <a:ln w="19050">
            <a:solidFill>
              <a:srgbClr val="2F80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" y="1298448"/>
            <a:ext cx="2999232" cy="2011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1645920"/>
            <a:ext cx="1005840" cy="7315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347472" y="3401568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Desktop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47472" y="37490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1440px+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187952" y="1078992"/>
            <a:ext cx="192024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360774" y="1298448"/>
            <a:ext cx="1574597" cy="2011680"/>
          </a:xfrm>
          <a:prstGeom prst="rect">
            <a:avLst/>
          </a:prstGeom>
          <a:solidFill>
            <a:srgbClr val="EEF6FF"/>
          </a:solidFill>
          <a:ln w="19050">
            <a:solidFill>
              <a:srgbClr val="2F80E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360774" y="1298448"/>
            <a:ext cx="1574597" cy="2011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172" y="1645920"/>
            <a:ext cx="685800" cy="86868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4187952" y="34015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Tablet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4187952" y="374904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768–1024px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6291072" y="1078992"/>
            <a:ext cx="128016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6406286" y="1298448"/>
            <a:ext cx="1049731" cy="2011680"/>
          </a:xfrm>
          <a:prstGeom prst="rect">
            <a:avLst/>
          </a:prstGeom>
          <a:solidFill>
            <a:srgbClr val="EEF6FF"/>
          </a:solidFill>
          <a:ln w="19050">
            <a:solidFill>
              <a:srgbClr val="2F80ED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406286" y="1298448"/>
            <a:ext cx="1049731" cy="2011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696" y="1645920"/>
            <a:ext cx="438912" cy="82296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291072" y="3401568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6291072" y="37490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320–767px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7662672" y="1078992"/>
            <a:ext cx="114300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Text 34"/>
          <p:cNvSpPr/>
          <p:nvPr/>
        </p:nvSpPr>
        <p:spPr>
          <a:xfrm>
            <a:off x="7726680" y="1152144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Tailwind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7726680" y="1508760"/>
            <a:ext cx="914400" cy="347472"/>
          </a:xfrm>
          <a:prstGeom prst="rect">
            <a:avLst/>
          </a:prstGeom>
          <a:solidFill>
            <a:srgbClr val="2F80ED">
              <a:alpha val="10000"/>
            </a:srgbClr>
          </a:solidFill>
          <a:ln w="12700">
            <a:solidFill>
              <a:srgbClr val="2F80ED">
                <a:alpha val="10000"/>
              </a:srgbClr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7726680" y="1508760"/>
            <a:ext cx="914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sm: 640px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7726680" y="1965960"/>
            <a:ext cx="914400" cy="347472"/>
          </a:xfrm>
          <a:prstGeom prst="rect">
            <a:avLst/>
          </a:prstGeom>
          <a:solidFill>
            <a:srgbClr val="2F80ED">
              <a:alpha val="10000"/>
            </a:srgbClr>
          </a:solidFill>
          <a:ln w="12700">
            <a:solidFill>
              <a:srgbClr val="2F80ED">
                <a:alpha val="10000"/>
              </a:srgbClr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726680" y="1965960"/>
            <a:ext cx="914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md: 768px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7726680" y="2423160"/>
            <a:ext cx="914400" cy="347472"/>
          </a:xfrm>
          <a:prstGeom prst="rect">
            <a:avLst/>
          </a:prstGeom>
          <a:solidFill>
            <a:srgbClr val="2F80ED">
              <a:alpha val="10000"/>
            </a:srgbClr>
          </a:solidFill>
          <a:ln w="12700">
            <a:solidFill>
              <a:srgbClr val="2F80ED">
                <a:alpha val="10000"/>
              </a:srgbClr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7726680" y="2423160"/>
            <a:ext cx="914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lg: 1024px</a:t>
            </a:r>
            <a:endParaRPr lang="en-US" sz="900" dirty="0"/>
          </a:p>
        </p:txBody>
      </p:sp>
      <p:sp>
        <p:nvSpPr>
          <p:cNvPr id="46" name="Shape 41"/>
          <p:cNvSpPr/>
          <p:nvPr/>
        </p:nvSpPr>
        <p:spPr>
          <a:xfrm>
            <a:off x="7726680" y="2880360"/>
            <a:ext cx="914400" cy="347472"/>
          </a:xfrm>
          <a:prstGeom prst="rect">
            <a:avLst/>
          </a:prstGeom>
          <a:solidFill>
            <a:srgbClr val="2F80ED">
              <a:alpha val="10000"/>
            </a:srgbClr>
          </a:solidFill>
          <a:ln w="12700">
            <a:solidFill>
              <a:srgbClr val="2F80ED">
                <a:alpha val="10000"/>
              </a:srgbClr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7726680" y="2880360"/>
            <a:ext cx="914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xl: 1280px</a:t>
            </a:r>
            <a:endParaRPr lang="en-US" sz="900" dirty="0"/>
          </a:p>
        </p:txBody>
      </p:sp>
      <p:sp>
        <p:nvSpPr>
          <p:cNvPr id="48" name="Shape 43"/>
          <p:cNvSpPr/>
          <p:nvPr/>
        </p:nvSpPr>
        <p:spPr>
          <a:xfrm>
            <a:off x="7726680" y="3337560"/>
            <a:ext cx="914400" cy="347472"/>
          </a:xfrm>
          <a:prstGeom prst="rect">
            <a:avLst/>
          </a:prstGeom>
          <a:solidFill>
            <a:srgbClr val="2F80ED">
              <a:alpha val="10000"/>
            </a:srgbClr>
          </a:solidFill>
          <a:ln w="12700">
            <a:solidFill>
              <a:srgbClr val="2F80ED">
                <a:alpha val="10000"/>
              </a:srgbClr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726680" y="3337560"/>
            <a:ext cx="914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Flex layouts</a:t>
            </a:r>
            <a:endParaRPr lang="en-US" sz="900" dirty="0"/>
          </a:p>
        </p:txBody>
      </p:sp>
      <p:sp>
        <p:nvSpPr>
          <p:cNvPr id="50" name="Shape 45"/>
          <p:cNvSpPr/>
          <p:nvPr/>
        </p:nvSpPr>
        <p:spPr>
          <a:xfrm>
            <a:off x="7726680" y="3794760"/>
            <a:ext cx="914400" cy="347472"/>
          </a:xfrm>
          <a:prstGeom prst="rect">
            <a:avLst/>
          </a:prstGeom>
          <a:solidFill>
            <a:srgbClr val="2F80ED">
              <a:alpha val="10000"/>
            </a:srgbClr>
          </a:solidFill>
          <a:ln w="12700">
            <a:solidFill>
              <a:srgbClr val="2F80ED">
                <a:alpha val="10000"/>
              </a:srgbClr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7726680" y="3794760"/>
            <a:ext cx="914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Grid adapt.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7220" cy="5143500"/>
          </a:xfrm>
          <a:prstGeom prst="rect">
            <a:avLst/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" y="0"/>
            <a:ext cx="617220" cy="5143500"/>
          </a:xfrm>
          <a:prstGeom prst="rect">
            <a:avLst/>
          </a:prstGeom>
          <a:solidFill>
            <a:srgbClr val="DCEEFF">
              <a:alpha val="9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0"/>
            <a:ext cx="617220" cy="5143500"/>
          </a:xfrm>
          <a:prstGeom prst="rect">
            <a:avLst/>
          </a:prstGeom>
          <a:solidFill>
            <a:srgbClr val="DCEEFF">
              <a:alpha val="8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14500" y="0"/>
            <a:ext cx="617220" cy="5143500"/>
          </a:xfrm>
          <a:prstGeom prst="rect">
            <a:avLst/>
          </a:prstGeom>
          <a:solidFill>
            <a:srgbClr val="DCEEFF">
              <a:alpha val="8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617220" cy="5143500"/>
          </a:xfrm>
          <a:prstGeom prst="rect">
            <a:avLst/>
          </a:prstGeom>
          <a:solidFill>
            <a:srgbClr val="DCEEFF">
              <a:alpha val="7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7500" y="0"/>
            <a:ext cx="617220" cy="5143500"/>
          </a:xfrm>
          <a:prstGeom prst="rect">
            <a:avLst/>
          </a:prstGeom>
          <a:solidFill>
            <a:srgbClr val="DCEEFF">
              <a:alpha val="6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617220" cy="5143500"/>
          </a:xfrm>
          <a:prstGeom prst="rect">
            <a:avLst/>
          </a:prstGeom>
          <a:solidFill>
            <a:srgbClr val="DCEEFF">
              <a:alpha val="6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00500" y="0"/>
            <a:ext cx="617220" cy="5143500"/>
          </a:xfrm>
          <a:prstGeom prst="rect">
            <a:avLst/>
          </a:prstGeom>
          <a:solidFill>
            <a:srgbClr val="DCEEFF">
              <a:alpha val="5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0"/>
            <a:ext cx="617220" cy="5143500"/>
          </a:xfrm>
          <a:prstGeom prst="rect">
            <a:avLst/>
          </a:prstGeom>
          <a:solidFill>
            <a:srgbClr val="DCEEFF">
              <a:alpha val="4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43500" y="0"/>
            <a:ext cx="617220" cy="5143500"/>
          </a:xfrm>
          <a:prstGeom prst="rect">
            <a:avLst/>
          </a:prstGeom>
          <a:solidFill>
            <a:srgbClr val="DCEEFF">
              <a:alpha val="4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0"/>
            <a:ext cx="617220" cy="5143500"/>
          </a:xfrm>
          <a:prstGeom prst="rect">
            <a:avLst/>
          </a:prstGeom>
          <a:solidFill>
            <a:srgbClr val="DCEEFF">
              <a:alpha val="3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0"/>
            <a:ext cx="617220" cy="5143500"/>
          </a:xfrm>
          <a:prstGeom prst="rect">
            <a:avLst/>
          </a:prstGeom>
          <a:solidFill>
            <a:srgbClr val="DCEEFF">
              <a:alpha val="2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0"/>
            <a:ext cx="617220" cy="5143500"/>
          </a:xfrm>
          <a:prstGeom prst="rect">
            <a:avLst/>
          </a:prstGeom>
          <a:solidFill>
            <a:srgbClr val="DCEEFF">
              <a:alpha val="2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9500" y="0"/>
            <a:ext cx="617220" cy="5143500"/>
          </a:xfrm>
          <a:prstGeom prst="rect">
            <a:avLst/>
          </a:prstGeom>
          <a:solidFill>
            <a:srgbClr val="DCEEFF">
              <a:alpha val="1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617220" cy="5143500"/>
          </a:xfrm>
          <a:prstGeom prst="rect">
            <a:avLst/>
          </a:prstGeom>
          <a:solidFill>
            <a:srgbClr val="DCEEFF">
              <a:alpha val="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72500" y="0"/>
            <a:ext cx="617220" cy="5143500"/>
          </a:xfrm>
          <a:prstGeom prst="rect">
            <a:avLst/>
          </a:prstGeom>
          <a:solidFill>
            <a:srgbClr val="DCEEFF">
              <a:alpha val="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Système d'</a:t>
            </a:r>
            <a:r>
              <a:rPr lang="en-US" sz="30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Authentification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457200" y="932688"/>
            <a:ext cx="1005840" cy="3657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1078992"/>
            <a:ext cx="416052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4672" y="1243584"/>
            <a:ext cx="32461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Connexion</a:t>
            </a:r>
            <a:endParaRPr lang="en-US" sz="18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1261872"/>
            <a:ext cx="274320" cy="2743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58368" y="184708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58368" y="2121408"/>
            <a:ext cx="356616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8368" y="267004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Mot de passe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58368" y="2944368"/>
            <a:ext cx="356616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58368" y="3547872"/>
            <a:ext cx="3566160" cy="43891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8368" y="3547872"/>
            <a:ext cx="35661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 connecter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58368" y="4069080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 encore de compte ? S'inscrire →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773168" y="1078992"/>
            <a:ext cx="3977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07008"/>
            <a:ext cx="402336" cy="402336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468112" y="1133856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Tokens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5468112" y="1444752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 sans état avec JSON Web Tokens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4773168" y="2020824"/>
            <a:ext cx="3977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148840"/>
            <a:ext cx="402336" cy="402336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5468112" y="2075688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Rôles &amp; Droits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5468112" y="2386584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/ User avec accès différenciés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4773168" y="2962656"/>
            <a:ext cx="3977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090672"/>
            <a:ext cx="402336" cy="402336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468112" y="301752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Security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5468112" y="3328416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Protection endpoints et CORS configuré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4773168" y="3904488"/>
            <a:ext cx="3977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032504"/>
            <a:ext cx="402336" cy="402336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5468112" y="3959352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Sessions sécurisées</a:t>
            </a:r>
            <a:endParaRPr lang="en-US" sz="1200" dirty="0"/>
          </a:p>
        </p:txBody>
      </p:sp>
      <p:sp>
        <p:nvSpPr>
          <p:cNvPr id="45" name="Text 38"/>
          <p:cNvSpPr/>
          <p:nvPr/>
        </p:nvSpPr>
        <p:spPr>
          <a:xfrm>
            <a:off x="5468112" y="4270248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Gestion automatique des tokens expirés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7220" cy="5143500"/>
          </a:xfrm>
          <a:prstGeom prst="rect">
            <a:avLst/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" y="0"/>
            <a:ext cx="617220" cy="5143500"/>
          </a:xfrm>
          <a:prstGeom prst="rect">
            <a:avLst/>
          </a:prstGeom>
          <a:solidFill>
            <a:srgbClr val="DCEEFF">
              <a:alpha val="9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0"/>
            <a:ext cx="617220" cy="5143500"/>
          </a:xfrm>
          <a:prstGeom prst="rect">
            <a:avLst/>
          </a:prstGeom>
          <a:solidFill>
            <a:srgbClr val="DCEEFF">
              <a:alpha val="8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14500" y="0"/>
            <a:ext cx="617220" cy="5143500"/>
          </a:xfrm>
          <a:prstGeom prst="rect">
            <a:avLst/>
          </a:prstGeom>
          <a:solidFill>
            <a:srgbClr val="DCEEFF">
              <a:alpha val="8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617220" cy="5143500"/>
          </a:xfrm>
          <a:prstGeom prst="rect">
            <a:avLst/>
          </a:prstGeom>
          <a:solidFill>
            <a:srgbClr val="DCEEFF">
              <a:alpha val="7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7500" y="0"/>
            <a:ext cx="617220" cy="5143500"/>
          </a:xfrm>
          <a:prstGeom prst="rect">
            <a:avLst/>
          </a:prstGeom>
          <a:solidFill>
            <a:srgbClr val="DCEEFF">
              <a:alpha val="6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617220" cy="5143500"/>
          </a:xfrm>
          <a:prstGeom prst="rect">
            <a:avLst/>
          </a:prstGeom>
          <a:solidFill>
            <a:srgbClr val="DCEEFF">
              <a:alpha val="6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00500" y="0"/>
            <a:ext cx="617220" cy="5143500"/>
          </a:xfrm>
          <a:prstGeom prst="rect">
            <a:avLst/>
          </a:prstGeom>
          <a:solidFill>
            <a:srgbClr val="DCEEFF">
              <a:alpha val="5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0"/>
            <a:ext cx="617220" cy="5143500"/>
          </a:xfrm>
          <a:prstGeom prst="rect">
            <a:avLst/>
          </a:prstGeom>
          <a:solidFill>
            <a:srgbClr val="DCEEFF">
              <a:alpha val="4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43500" y="0"/>
            <a:ext cx="617220" cy="5143500"/>
          </a:xfrm>
          <a:prstGeom prst="rect">
            <a:avLst/>
          </a:prstGeom>
          <a:solidFill>
            <a:srgbClr val="DCEEFF">
              <a:alpha val="4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0"/>
            <a:ext cx="617220" cy="5143500"/>
          </a:xfrm>
          <a:prstGeom prst="rect">
            <a:avLst/>
          </a:prstGeom>
          <a:solidFill>
            <a:srgbClr val="DCEEFF">
              <a:alpha val="3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0"/>
            <a:ext cx="617220" cy="5143500"/>
          </a:xfrm>
          <a:prstGeom prst="rect">
            <a:avLst/>
          </a:prstGeom>
          <a:solidFill>
            <a:srgbClr val="DCEEFF">
              <a:alpha val="2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0"/>
            <a:ext cx="617220" cy="5143500"/>
          </a:xfrm>
          <a:prstGeom prst="rect">
            <a:avLst/>
          </a:prstGeom>
          <a:solidFill>
            <a:srgbClr val="DCEEFF">
              <a:alpha val="2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9500" y="0"/>
            <a:ext cx="617220" cy="5143500"/>
          </a:xfrm>
          <a:prstGeom prst="rect">
            <a:avLst/>
          </a:prstGeom>
          <a:solidFill>
            <a:srgbClr val="DCEEFF">
              <a:alpha val="1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617220" cy="5143500"/>
          </a:xfrm>
          <a:prstGeom prst="rect">
            <a:avLst/>
          </a:prstGeom>
          <a:solidFill>
            <a:srgbClr val="DCEEFF">
              <a:alpha val="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72500" y="0"/>
            <a:ext cx="617220" cy="5143500"/>
          </a:xfrm>
          <a:prstGeom prst="rect">
            <a:avLst/>
          </a:prstGeom>
          <a:solidFill>
            <a:srgbClr val="DCEEFF">
              <a:alpha val="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Difficultés</a:t>
            </a:r>
            <a:r>
              <a:rPr lang="en-US" sz="3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Techniques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457200" y="932688"/>
            <a:ext cx="1005840" cy="3657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1078992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1243584"/>
            <a:ext cx="68580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3800" dirty="0"/>
          </a:p>
        </p:txBody>
      </p:sp>
      <p:sp>
        <p:nvSpPr>
          <p:cNvPr id="22" name="Shape 20"/>
          <p:cNvSpPr/>
          <p:nvPr/>
        </p:nvSpPr>
        <p:spPr>
          <a:xfrm>
            <a:off x="548640" y="1243584"/>
            <a:ext cx="54864" cy="129844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1280160"/>
            <a:ext cx="3566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Gestion dépendances npm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1673352"/>
            <a:ext cx="3566160" cy="10241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Conflits de versions entre paquets, résolution manuelle de peer dependencies et compatibilité.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36592" y="1078992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37760" y="1243584"/>
            <a:ext cx="68580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3800" dirty="0"/>
          </a:p>
        </p:txBody>
      </p:sp>
      <p:sp>
        <p:nvSpPr>
          <p:cNvPr id="27" name="Shape 25"/>
          <p:cNvSpPr/>
          <p:nvPr/>
        </p:nvSpPr>
        <p:spPr>
          <a:xfrm>
            <a:off x="4937760" y="1243584"/>
            <a:ext cx="54864" cy="12984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1280160"/>
            <a:ext cx="3566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 du Projet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20640" y="1673352"/>
            <a:ext cx="3566160" cy="10241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Structurer le code pour être maintenable et évolutif : séparation des responsabilités dès le départ.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7472" y="3035808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8640" y="3200400"/>
            <a:ext cx="68580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3800" dirty="0"/>
          </a:p>
        </p:txBody>
      </p:sp>
      <p:sp>
        <p:nvSpPr>
          <p:cNvPr id="32" name="Shape 30"/>
          <p:cNvSpPr/>
          <p:nvPr/>
        </p:nvSpPr>
        <p:spPr>
          <a:xfrm>
            <a:off x="548640" y="3200400"/>
            <a:ext cx="54864" cy="12984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3236976"/>
            <a:ext cx="3566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Responsive Design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1520" y="3630168"/>
            <a:ext cx="3566160" cy="10241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Adapter chaque composant React sur 3 tailles d'écran sans régression visuelle ou fonctionnelle.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36592" y="3035808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937760" y="3200400"/>
            <a:ext cx="68580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3800" dirty="0"/>
          </a:p>
        </p:txBody>
      </p:sp>
      <p:sp>
        <p:nvSpPr>
          <p:cNvPr id="37" name="Shape 35"/>
          <p:cNvSpPr/>
          <p:nvPr/>
        </p:nvSpPr>
        <p:spPr>
          <a:xfrm>
            <a:off x="4937760" y="3200400"/>
            <a:ext cx="54864" cy="1298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3236976"/>
            <a:ext cx="3566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Routing Dynamique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120640" y="3630168"/>
            <a:ext cx="3566160" cy="10241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Configurer TanStack Router avec routes imbriquées, paramètres URL et protection des routes privées.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7220" cy="5143500"/>
          </a:xfrm>
          <a:prstGeom prst="rect">
            <a:avLst/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" y="0"/>
            <a:ext cx="617220" cy="5143500"/>
          </a:xfrm>
          <a:prstGeom prst="rect">
            <a:avLst/>
          </a:prstGeom>
          <a:solidFill>
            <a:srgbClr val="DCEEFF">
              <a:alpha val="9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0"/>
            <a:ext cx="617220" cy="5143500"/>
          </a:xfrm>
          <a:prstGeom prst="rect">
            <a:avLst/>
          </a:prstGeom>
          <a:solidFill>
            <a:srgbClr val="DCEEFF">
              <a:alpha val="8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14500" y="0"/>
            <a:ext cx="617220" cy="5143500"/>
          </a:xfrm>
          <a:prstGeom prst="rect">
            <a:avLst/>
          </a:prstGeom>
          <a:solidFill>
            <a:srgbClr val="DCEEFF">
              <a:alpha val="8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617220" cy="5143500"/>
          </a:xfrm>
          <a:prstGeom prst="rect">
            <a:avLst/>
          </a:prstGeom>
          <a:solidFill>
            <a:srgbClr val="DCEEFF">
              <a:alpha val="7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7500" y="0"/>
            <a:ext cx="617220" cy="5143500"/>
          </a:xfrm>
          <a:prstGeom prst="rect">
            <a:avLst/>
          </a:prstGeom>
          <a:solidFill>
            <a:srgbClr val="DCEEFF">
              <a:alpha val="6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617220" cy="5143500"/>
          </a:xfrm>
          <a:prstGeom prst="rect">
            <a:avLst/>
          </a:prstGeom>
          <a:solidFill>
            <a:srgbClr val="DCEEFF">
              <a:alpha val="6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00500" y="0"/>
            <a:ext cx="617220" cy="5143500"/>
          </a:xfrm>
          <a:prstGeom prst="rect">
            <a:avLst/>
          </a:prstGeom>
          <a:solidFill>
            <a:srgbClr val="DCEEFF">
              <a:alpha val="5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0"/>
            <a:ext cx="617220" cy="5143500"/>
          </a:xfrm>
          <a:prstGeom prst="rect">
            <a:avLst/>
          </a:prstGeom>
          <a:solidFill>
            <a:srgbClr val="DCEEFF">
              <a:alpha val="4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43500" y="0"/>
            <a:ext cx="617220" cy="5143500"/>
          </a:xfrm>
          <a:prstGeom prst="rect">
            <a:avLst/>
          </a:prstGeom>
          <a:solidFill>
            <a:srgbClr val="DCEEFF">
              <a:alpha val="4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0"/>
            <a:ext cx="617220" cy="5143500"/>
          </a:xfrm>
          <a:prstGeom prst="rect">
            <a:avLst/>
          </a:prstGeom>
          <a:solidFill>
            <a:srgbClr val="DCEEFF">
              <a:alpha val="3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0"/>
            <a:ext cx="617220" cy="5143500"/>
          </a:xfrm>
          <a:prstGeom prst="rect">
            <a:avLst/>
          </a:prstGeom>
          <a:solidFill>
            <a:srgbClr val="DCEEFF">
              <a:alpha val="2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0"/>
            <a:ext cx="617220" cy="5143500"/>
          </a:xfrm>
          <a:prstGeom prst="rect">
            <a:avLst/>
          </a:prstGeom>
          <a:solidFill>
            <a:srgbClr val="DCEEFF">
              <a:alpha val="2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9500" y="0"/>
            <a:ext cx="617220" cy="5143500"/>
          </a:xfrm>
          <a:prstGeom prst="rect">
            <a:avLst/>
          </a:prstGeom>
          <a:solidFill>
            <a:srgbClr val="DCEEFF">
              <a:alpha val="1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617220" cy="5143500"/>
          </a:xfrm>
          <a:prstGeom prst="rect">
            <a:avLst/>
          </a:prstGeom>
          <a:solidFill>
            <a:srgbClr val="DCEEFF">
              <a:alpha val="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72500" y="0"/>
            <a:ext cx="617220" cy="5143500"/>
          </a:xfrm>
          <a:prstGeom prst="rect">
            <a:avLst/>
          </a:prstGeom>
          <a:solidFill>
            <a:srgbClr val="DCEEFF">
              <a:alpha val="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Résultats</a:t>
            </a:r>
            <a:r>
              <a:rPr lang="en-US" sz="3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Obtenus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457200" y="932688"/>
            <a:ext cx="1005840" cy="3657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1078992"/>
            <a:ext cx="196596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261872"/>
            <a:ext cx="530352" cy="53035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347472" y="1901952"/>
            <a:ext cx="1965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3800" dirty="0"/>
          </a:p>
        </p:txBody>
      </p:sp>
      <p:sp>
        <p:nvSpPr>
          <p:cNvPr id="23" name="Text 20"/>
          <p:cNvSpPr/>
          <p:nvPr/>
        </p:nvSpPr>
        <p:spPr>
          <a:xfrm>
            <a:off x="347472" y="2487168"/>
            <a:ext cx="19659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Fonctionnalités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47472" y="2816352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Toutes les features planifiées livrées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523744" y="1078992"/>
            <a:ext cx="196596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976" y="1261872"/>
            <a:ext cx="530352" cy="53035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2523744" y="1901952"/>
            <a:ext cx="1965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3800" dirty="0"/>
          </a:p>
        </p:txBody>
      </p:sp>
      <p:sp>
        <p:nvSpPr>
          <p:cNvPr id="28" name="Text 24"/>
          <p:cNvSpPr/>
          <p:nvPr/>
        </p:nvSpPr>
        <p:spPr>
          <a:xfrm>
            <a:off x="2523744" y="2487168"/>
            <a:ext cx="19659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Breakpoints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2523744" y="2816352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Desktop, Tablet, Mobile supportés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700016" y="1078992"/>
            <a:ext cx="196596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261872"/>
            <a:ext cx="530352" cy="53035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700016" y="1901952"/>
            <a:ext cx="1965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20+</a:t>
            </a:r>
            <a:endParaRPr lang="en-US" sz="3800" dirty="0"/>
          </a:p>
        </p:txBody>
      </p:sp>
      <p:sp>
        <p:nvSpPr>
          <p:cNvPr id="33" name="Text 28"/>
          <p:cNvSpPr/>
          <p:nvPr/>
        </p:nvSpPr>
        <p:spPr>
          <a:xfrm>
            <a:off x="4700016" y="2487168"/>
            <a:ext cx="19659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Composants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4700016" y="2816352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Composants React réutilisables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876288" y="1078992"/>
            <a:ext cx="196596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261872"/>
            <a:ext cx="530352" cy="530352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876288" y="1901952"/>
            <a:ext cx="1965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15+</a:t>
            </a:r>
            <a:endParaRPr lang="en-US" sz="3800" dirty="0"/>
          </a:p>
        </p:txBody>
      </p:sp>
      <p:sp>
        <p:nvSpPr>
          <p:cNvPr id="38" name="Text 32"/>
          <p:cNvSpPr/>
          <p:nvPr/>
        </p:nvSpPr>
        <p:spPr>
          <a:xfrm>
            <a:off x="6876288" y="2487168"/>
            <a:ext cx="19659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Endpoints API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6876288" y="2816352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Endpoints REST documentés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347472" y="3611880"/>
            <a:ext cx="8458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Text 35"/>
          <p:cNvSpPr/>
          <p:nvPr/>
        </p:nvSpPr>
        <p:spPr>
          <a:xfrm>
            <a:off x="566928" y="3694176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Bilan du Projet :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566928" y="4133088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804672" y="4114800"/>
            <a:ext cx="18745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Interface moderne et professionnelle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2688336" y="4133088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2926080" y="4114800"/>
            <a:ext cx="18745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propre et maintenable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4809744" y="4133088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5047488" y="4114800"/>
            <a:ext cx="18745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 découplée Frontend/Backend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6931152" y="4133088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7168896" y="4114800"/>
            <a:ext cx="18745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prêt pour la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7220" cy="5143500"/>
          </a:xfrm>
          <a:prstGeom prst="rect">
            <a:avLst/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" y="0"/>
            <a:ext cx="617220" cy="5143500"/>
          </a:xfrm>
          <a:prstGeom prst="rect">
            <a:avLst/>
          </a:prstGeom>
          <a:solidFill>
            <a:srgbClr val="DCEEFF">
              <a:alpha val="9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0"/>
            <a:ext cx="617220" cy="5143500"/>
          </a:xfrm>
          <a:prstGeom prst="rect">
            <a:avLst/>
          </a:prstGeom>
          <a:solidFill>
            <a:srgbClr val="DCEEFF">
              <a:alpha val="8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14500" y="0"/>
            <a:ext cx="617220" cy="5143500"/>
          </a:xfrm>
          <a:prstGeom prst="rect">
            <a:avLst/>
          </a:prstGeom>
          <a:solidFill>
            <a:srgbClr val="DCEEFF">
              <a:alpha val="8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617220" cy="5143500"/>
          </a:xfrm>
          <a:prstGeom prst="rect">
            <a:avLst/>
          </a:prstGeom>
          <a:solidFill>
            <a:srgbClr val="DCEEFF">
              <a:alpha val="7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7500" y="0"/>
            <a:ext cx="617220" cy="5143500"/>
          </a:xfrm>
          <a:prstGeom prst="rect">
            <a:avLst/>
          </a:prstGeom>
          <a:solidFill>
            <a:srgbClr val="DCEEFF">
              <a:alpha val="6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617220" cy="5143500"/>
          </a:xfrm>
          <a:prstGeom prst="rect">
            <a:avLst/>
          </a:prstGeom>
          <a:solidFill>
            <a:srgbClr val="DCEEFF">
              <a:alpha val="6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00500" y="0"/>
            <a:ext cx="617220" cy="5143500"/>
          </a:xfrm>
          <a:prstGeom prst="rect">
            <a:avLst/>
          </a:prstGeom>
          <a:solidFill>
            <a:srgbClr val="DCEEFF">
              <a:alpha val="5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0"/>
            <a:ext cx="617220" cy="5143500"/>
          </a:xfrm>
          <a:prstGeom prst="rect">
            <a:avLst/>
          </a:prstGeom>
          <a:solidFill>
            <a:srgbClr val="DCEEFF">
              <a:alpha val="4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43500" y="0"/>
            <a:ext cx="617220" cy="5143500"/>
          </a:xfrm>
          <a:prstGeom prst="rect">
            <a:avLst/>
          </a:prstGeom>
          <a:solidFill>
            <a:srgbClr val="DCEEFF">
              <a:alpha val="4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0"/>
            <a:ext cx="617220" cy="5143500"/>
          </a:xfrm>
          <a:prstGeom prst="rect">
            <a:avLst/>
          </a:prstGeom>
          <a:solidFill>
            <a:srgbClr val="DCEEFF">
              <a:alpha val="3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0"/>
            <a:ext cx="617220" cy="5143500"/>
          </a:xfrm>
          <a:prstGeom prst="rect">
            <a:avLst/>
          </a:prstGeom>
          <a:solidFill>
            <a:srgbClr val="DCEEFF">
              <a:alpha val="2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0"/>
            <a:ext cx="617220" cy="5143500"/>
          </a:xfrm>
          <a:prstGeom prst="rect">
            <a:avLst/>
          </a:prstGeom>
          <a:solidFill>
            <a:srgbClr val="DCEEFF">
              <a:alpha val="2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9500" y="0"/>
            <a:ext cx="617220" cy="5143500"/>
          </a:xfrm>
          <a:prstGeom prst="rect">
            <a:avLst/>
          </a:prstGeom>
          <a:solidFill>
            <a:srgbClr val="DCEEFF">
              <a:alpha val="1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617220" cy="5143500"/>
          </a:xfrm>
          <a:prstGeom prst="rect">
            <a:avLst/>
          </a:prstGeom>
          <a:solidFill>
            <a:srgbClr val="DCEEFF">
              <a:alpha val="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72500" y="0"/>
            <a:ext cx="617220" cy="5143500"/>
          </a:xfrm>
          <a:prstGeom prst="rect">
            <a:avLst/>
          </a:prstGeom>
          <a:solidFill>
            <a:srgbClr val="DCEEFF">
              <a:alpha val="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Améliorations</a:t>
            </a:r>
            <a:r>
              <a:rPr lang="en-US" sz="3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Futures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457200" y="932688"/>
            <a:ext cx="1005840" cy="3657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1078992"/>
            <a:ext cx="263347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2064" y="1261872"/>
            <a:ext cx="658368" cy="658368"/>
          </a:xfrm>
          <a:prstGeom prst="rect">
            <a:avLst/>
          </a:prstGeom>
          <a:solidFill>
            <a:srgbClr val="2F80ED">
              <a:alpha val="18000"/>
            </a:srgbClr>
          </a:solidFill>
          <a:ln w="12700">
            <a:solidFill>
              <a:srgbClr val="2F80ED">
                <a:alpha val="18000"/>
              </a:srgbClr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16736"/>
            <a:ext cx="530352" cy="530352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1920240" y="1298448"/>
            <a:ext cx="841248" cy="237744"/>
          </a:xfrm>
          <a:prstGeom prst="rect">
            <a:avLst/>
          </a:prstGeom>
          <a:solidFill>
            <a:srgbClr val="2F80ED">
              <a:alpha val="22000"/>
            </a:srgbClr>
          </a:solidFill>
          <a:ln w="12700">
            <a:solidFill>
              <a:srgbClr val="2F80ED">
                <a:alpha val="22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920240" y="1298448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12064" y="2011680"/>
            <a:ext cx="230428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Paiement en Ligne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12064" y="2377440"/>
            <a:ext cx="230428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Intégration Stripe / PayPal pour des transactions sécurisées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200400" y="1078992"/>
            <a:ext cx="263347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364992" y="1261872"/>
            <a:ext cx="658368" cy="658368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18000"/>
              </a:srgbClr>
            </a:solidFill>
            <a:prstDash val="solid"/>
          </a:ln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1316736"/>
            <a:ext cx="530352" cy="530352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4773168" y="1298448"/>
            <a:ext cx="841248" cy="237744"/>
          </a:xfrm>
          <a:prstGeom prst="rect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>
                <a:alpha val="2200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773168" y="1298448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3364992" y="2011680"/>
            <a:ext cx="230428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Admin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3364992" y="2377440"/>
            <a:ext cx="230428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Interface d'administration pour produits, commandes et utilisateurs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6053328" y="1078992"/>
            <a:ext cx="263347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6217920" y="1261872"/>
            <a:ext cx="658368" cy="658368"/>
          </a:xfrm>
          <a:prstGeom prst="rect">
            <a:avLst/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18000"/>
              </a:srgbClr>
            </a:solidFill>
            <a:prstDash val="solid"/>
          </a:ln>
        </p:spPr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316736"/>
            <a:ext cx="530352" cy="530352"/>
          </a:xfrm>
          <a:prstGeom prst="rect">
            <a:avLst/>
          </a:prstGeom>
        </p:spPr>
      </p:pic>
      <p:sp>
        <p:nvSpPr>
          <p:cNvPr id="37" name="Shape 32"/>
          <p:cNvSpPr/>
          <p:nvPr/>
        </p:nvSpPr>
        <p:spPr>
          <a:xfrm>
            <a:off x="7626096" y="1298448"/>
            <a:ext cx="841248" cy="237744"/>
          </a:xfrm>
          <a:prstGeom prst="rect">
            <a:avLst/>
          </a:prstGeom>
          <a:solidFill>
            <a:srgbClr val="EC4899">
              <a:alpha val="22000"/>
            </a:srgbClr>
          </a:solidFill>
          <a:ln w="12700">
            <a:solidFill>
              <a:srgbClr val="EC4899">
                <a:alpha val="22000"/>
              </a:srgbClr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7626096" y="1298448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6217920" y="2011680"/>
            <a:ext cx="230428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Wishlist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6217920" y="2377440"/>
            <a:ext cx="230428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Liste de souhaits personnalisée par utilisateur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1755648" y="3090672"/>
            <a:ext cx="263347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1920240" y="3273552"/>
            <a:ext cx="658368" cy="658368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18000"/>
              </a:srgbClr>
            </a:solidFill>
            <a:prstDash val="solid"/>
          </a:ln>
        </p:spPr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5104" y="3328416"/>
            <a:ext cx="530352" cy="530352"/>
          </a:xfrm>
          <a:prstGeom prst="rect">
            <a:avLst/>
          </a:prstGeom>
        </p:spPr>
      </p:pic>
      <p:sp>
        <p:nvSpPr>
          <p:cNvPr id="44" name="Shape 38"/>
          <p:cNvSpPr/>
          <p:nvPr/>
        </p:nvSpPr>
        <p:spPr>
          <a:xfrm>
            <a:off x="3328416" y="3310128"/>
            <a:ext cx="841248" cy="237744"/>
          </a:xfrm>
          <a:prstGeom prst="rect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22000"/>
              </a:srgbClr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3328416" y="3310128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</a:t>
            </a:r>
            <a:endParaRPr lang="en-US" sz="800" dirty="0"/>
          </a:p>
        </p:txBody>
      </p:sp>
      <p:sp>
        <p:nvSpPr>
          <p:cNvPr id="46" name="Text 40"/>
          <p:cNvSpPr/>
          <p:nvPr/>
        </p:nvSpPr>
        <p:spPr>
          <a:xfrm>
            <a:off x="1920240" y="4023360"/>
            <a:ext cx="230428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47" name="Text 41"/>
          <p:cNvSpPr/>
          <p:nvPr/>
        </p:nvSpPr>
        <p:spPr>
          <a:xfrm>
            <a:off x="1920240" y="4389120"/>
            <a:ext cx="230428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Push notifications pour commandes et promotions</a:t>
            </a:r>
            <a:endParaRPr lang="en-US" sz="950" dirty="0"/>
          </a:p>
        </p:txBody>
      </p:sp>
      <p:sp>
        <p:nvSpPr>
          <p:cNvPr id="48" name="Shape 42"/>
          <p:cNvSpPr/>
          <p:nvPr/>
        </p:nvSpPr>
        <p:spPr>
          <a:xfrm>
            <a:off x="4608576" y="3090672"/>
            <a:ext cx="263347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3"/>
          <p:cNvSpPr/>
          <p:nvPr/>
        </p:nvSpPr>
        <p:spPr>
          <a:xfrm>
            <a:off x="4773168" y="3273552"/>
            <a:ext cx="658368" cy="658368"/>
          </a:xfrm>
          <a:prstGeom prst="rect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18000"/>
              </a:srgbClr>
            </a:solidFill>
            <a:prstDash val="solid"/>
          </a:ln>
        </p:spPr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3328416"/>
            <a:ext cx="530352" cy="530352"/>
          </a:xfrm>
          <a:prstGeom prst="rect">
            <a:avLst/>
          </a:prstGeom>
        </p:spPr>
      </p:pic>
      <p:sp>
        <p:nvSpPr>
          <p:cNvPr id="51" name="Shape 44"/>
          <p:cNvSpPr/>
          <p:nvPr/>
        </p:nvSpPr>
        <p:spPr>
          <a:xfrm>
            <a:off x="6181344" y="3310128"/>
            <a:ext cx="841248" cy="237744"/>
          </a:xfrm>
          <a:prstGeom prst="rect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6181344" y="3310128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4</a:t>
            </a:r>
            <a:endParaRPr lang="en-US" sz="800" dirty="0"/>
          </a:p>
        </p:txBody>
      </p:sp>
      <p:sp>
        <p:nvSpPr>
          <p:cNvPr id="53" name="Text 46"/>
          <p:cNvSpPr/>
          <p:nvPr/>
        </p:nvSpPr>
        <p:spPr>
          <a:xfrm>
            <a:off x="4773168" y="4023360"/>
            <a:ext cx="230428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Déploiement Cloud</a:t>
            </a:r>
            <a:endParaRPr lang="en-US" sz="1200" dirty="0"/>
          </a:p>
        </p:txBody>
      </p:sp>
      <p:sp>
        <p:nvSpPr>
          <p:cNvPr id="54" name="Text 47"/>
          <p:cNvSpPr/>
          <p:nvPr/>
        </p:nvSpPr>
        <p:spPr>
          <a:xfrm>
            <a:off x="4773168" y="4389120"/>
            <a:ext cx="230428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CI/CD avec Docker + AWS / Vercel pour mise en production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7220" cy="5143500"/>
          </a:xfrm>
          <a:prstGeom prst="rect">
            <a:avLst/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" y="0"/>
            <a:ext cx="617220" cy="5143500"/>
          </a:xfrm>
          <a:prstGeom prst="rect">
            <a:avLst/>
          </a:prstGeom>
          <a:solidFill>
            <a:srgbClr val="DCEEFF">
              <a:alpha val="9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0"/>
            <a:ext cx="617220" cy="5143500"/>
          </a:xfrm>
          <a:prstGeom prst="rect">
            <a:avLst/>
          </a:prstGeom>
          <a:solidFill>
            <a:srgbClr val="DCEEFF">
              <a:alpha val="8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14500" y="0"/>
            <a:ext cx="617220" cy="5143500"/>
          </a:xfrm>
          <a:prstGeom prst="rect">
            <a:avLst/>
          </a:prstGeom>
          <a:solidFill>
            <a:srgbClr val="DCEEFF">
              <a:alpha val="8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617220" cy="5143500"/>
          </a:xfrm>
          <a:prstGeom prst="rect">
            <a:avLst/>
          </a:prstGeom>
          <a:solidFill>
            <a:srgbClr val="DCEEFF">
              <a:alpha val="7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7500" y="0"/>
            <a:ext cx="617220" cy="5143500"/>
          </a:xfrm>
          <a:prstGeom prst="rect">
            <a:avLst/>
          </a:prstGeom>
          <a:solidFill>
            <a:srgbClr val="DCEEFF">
              <a:alpha val="6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617220" cy="5143500"/>
          </a:xfrm>
          <a:prstGeom prst="rect">
            <a:avLst/>
          </a:prstGeom>
          <a:solidFill>
            <a:srgbClr val="DCEEFF">
              <a:alpha val="6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00500" y="0"/>
            <a:ext cx="617220" cy="5143500"/>
          </a:xfrm>
          <a:prstGeom prst="rect">
            <a:avLst/>
          </a:prstGeom>
          <a:solidFill>
            <a:srgbClr val="DCEEFF">
              <a:alpha val="5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0"/>
            <a:ext cx="617220" cy="5143500"/>
          </a:xfrm>
          <a:prstGeom prst="rect">
            <a:avLst/>
          </a:prstGeom>
          <a:solidFill>
            <a:srgbClr val="DCEEFF">
              <a:alpha val="4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43500" y="0"/>
            <a:ext cx="617220" cy="5143500"/>
          </a:xfrm>
          <a:prstGeom prst="rect">
            <a:avLst/>
          </a:prstGeom>
          <a:solidFill>
            <a:srgbClr val="DCEEFF">
              <a:alpha val="4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0"/>
            <a:ext cx="617220" cy="5143500"/>
          </a:xfrm>
          <a:prstGeom prst="rect">
            <a:avLst/>
          </a:prstGeom>
          <a:solidFill>
            <a:srgbClr val="DCEEFF">
              <a:alpha val="3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0"/>
            <a:ext cx="617220" cy="5143500"/>
          </a:xfrm>
          <a:prstGeom prst="rect">
            <a:avLst/>
          </a:prstGeom>
          <a:solidFill>
            <a:srgbClr val="DCEEFF">
              <a:alpha val="2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0"/>
            <a:ext cx="617220" cy="5143500"/>
          </a:xfrm>
          <a:prstGeom prst="rect">
            <a:avLst/>
          </a:prstGeom>
          <a:solidFill>
            <a:srgbClr val="DCEEFF">
              <a:alpha val="20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9500" y="0"/>
            <a:ext cx="617220" cy="5143500"/>
          </a:xfrm>
          <a:prstGeom prst="rect">
            <a:avLst/>
          </a:prstGeom>
          <a:solidFill>
            <a:srgbClr val="DCEEFF">
              <a:alpha val="13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617220" cy="5143500"/>
          </a:xfrm>
          <a:prstGeom prst="rect">
            <a:avLst/>
          </a:prstGeom>
          <a:solidFill>
            <a:srgbClr val="DCEEFF">
              <a:alpha val="700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72500" y="0"/>
            <a:ext cx="617220" cy="5143500"/>
          </a:xfrm>
          <a:prstGeom prst="rect">
            <a:avLst/>
          </a:prstGeom>
          <a:solidFill>
            <a:srgbClr val="DCEEFF">
              <a:alpha val="0"/>
            </a:srgbClr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-731520"/>
            <a:ext cx="5029200" cy="5029200"/>
          </a:xfrm>
          <a:prstGeom prst="rect">
            <a:avLst/>
          </a:prstGeom>
          <a:solidFill>
            <a:srgbClr val="DCEEFF">
              <a:alpha val="52000"/>
            </a:srgbClr>
          </a:solidFill>
          <a:ln w="12700">
            <a:solidFill>
              <a:srgbClr val="DCEEFF">
                <a:alpha val="5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1480"/>
            <a:ext cx="6400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</a:t>
            </a:r>
            <a:r>
              <a:rPr lang="en-US" sz="55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</a:t>
            </a:r>
            <a:endParaRPr lang="en-US" sz="5500" dirty="0"/>
          </a:p>
        </p:txBody>
      </p:sp>
      <p:sp>
        <p:nvSpPr>
          <p:cNvPr id="21" name="Text 19"/>
          <p:cNvSpPr/>
          <p:nvPr/>
        </p:nvSpPr>
        <p:spPr>
          <a:xfrm>
            <a:off x="457200" y="1298448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57200" y="1847088"/>
            <a:ext cx="5074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1847088"/>
            <a:ext cx="118872" cy="5669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1920240"/>
            <a:ext cx="468172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Projet Full Stack moderne — React 18 + Spring Boot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2532888"/>
            <a:ext cx="5074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2532888"/>
            <a:ext cx="118872" cy="5669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2606040"/>
            <a:ext cx="468172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Apprentissage en profondeur des architectures SPA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218688"/>
            <a:ext cx="5074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218688"/>
            <a:ext cx="118872" cy="5669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3291840"/>
            <a:ext cx="468172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Importance d'une conception modulaire et scalable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904488"/>
            <a:ext cx="5074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3904488"/>
            <a:ext cx="118872" cy="5669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3977640"/>
            <a:ext cx="468172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solide pour des évolutions ambitieuses futures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760720" y="1572768"/>
            <a:ext cx="312724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Merci pour votre attention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943600" y="2240280"/>
            <a:ext cx="2743200" cy="47548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2240280"/>
            <a:ext cx="2743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?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5715000" y="2907792"/>
            <a:ext cx="312724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897880" y="2980944"/>
            <a:ext cx="2651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80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Contact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897880" y="338328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votre.email@universite.ma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897880" y="367588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Université — Génie Informatique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897880" y="396849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Année universitaire 2024 – 2025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897880" y="426110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Settat, Casablanca-Settat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5947</Words>
  <Application>WPS Presentation</Application>
  <PresentationFormat>On-screen Show (16:9)</PresentationFormat>
  <Paragraphs>624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TechStore — E-Store Full Stack</dc:title>
  <dc:creator>PptxGenJS</dc:creator>
  <dc:subject>PptxGenJS Presentation</dc:subject>
  <cp:lastModifiedBy>WPS_1724746266</cp:lastModifiedBy>
  <cp:revision>2</cp:revision>
  <dcterms:created xsi:type="dcterms:W3CDTF">2026-05-10T20:33:00Z</dcterms:created>
  <dcterms:modified xsi:type="dcterms:W3CDTF">2026-05-11T00:51:30Z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A6F69BD655044F6D9AEB11F95B3F396F_12</vt:lpwstr>
  </property>
  <property fmtid="{D5CDD505-2E9C-101B-9397-08002B2CF9AE}" pid="3" name="KSOProductBuildVer">
    <vt:lpwstr>1036-12.1.0.25242</vt:lpwstr>
  </property>
</Properties>
</file>